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rts/chart1.xml" ContentType="application/vnd.openxmlformats-officedocument.drawingml.chart+xml"/>
  <Override PartName="/ppt/notesSlides/notesSlide4.xml" ContentType="application/vnd.openxmlformats-officedocument.presentationml.notesSlide+xml"/>
  <Override PartName="/ppt/charts/chart2.xml" ContentType="application/vnd.openxmlformats-officedocument.drawingml.chart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1" d="100"/>
          <a:sy n="101" d="100"/>
        </p:scale>
        <p:origin x="87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v>Fora do SLA</c:v>
          </c:tx>
          <c:spPr>
            <a:solidFill>
              <a:srgbClr val="087F8C"/>
            </a:solidFill>
          </c:spPr>
          <c:invertIfNegative val="1"/>
          <c:dPt>
            <c:idx val="2"/>
            <c:invertIfNegative val="0"/>
            <c:bubble3D val="0"/>
            <c:spPr>
              <a:solidFill>
                <a:srgbClr val="D1495B"/>
              </a:solidFill>
            </c:spPr>
            <c:extLst>
              <c:ext xmlns:c16="http://schemas.microsoft.com/office/drawing/2014/chart" uri="{C3380CC4-5D6E-409C-BE32-E72D297353CC}">
                <c16:uniqueId val="{00000001-BF51-454F-9B96-C1715E9E313A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 sz="1350" b="1">
                    <a:solidFill>
                      <a:srgbClr val="14213D"/>
                    </a:solidFill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Lit>
              <c:ptCount val="3"/>
              <c:pt idx="0">
                <c:v>Manhã</c:v>
              </c:pt>
              <c:pt idx="1">
                <c:v>Tarde</c:v>
              </c:pt>
              <c:pt idx="2">
                <c:v>Noite</c:v>
              </c:pt>
            </c:strLit>
          </c:cat>
          <c:val>
            <c:numLit>
              <c:formatCode>General</c:formatCode>
              <c:ptCount val="3"/>
              <c:pt idx="0">
                <c:v>27.6</c:v>
              </c:pt>
              <c:pt idx="1">
                <c:v>12</c:v>
              </c:pt>
              <c:pt idx="2">
                <c:v>100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2-BF51-454F-9B96-C1715E9E313A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65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majorGridlines>
          <c:spPr>
            <a:ln w="9525">
              <a:solidFill>
                <a:srgbClr val="CBD3DC"/>
              </a:solidFill>
              <a:prstDash val="solid"/>
            </a:ln>
          </c:spPr>
        </c:majorGridlines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>
                <a:solidFill>
                  <a:srgbClr val="666666"/>
                </a:solidFill>
              </a:defRPr>
            </a:pPr>
            <a:endParaRPr lang="en-US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</c:scaling>
        <c:delete val="0"/>
        <c:axPos val="b"/>
        <c:majorGridlines>
          <c:spPr>
            <a:ln w="0">
              <a:noFill/>
              <a:prstDash val="solid"/>
            </a:ln>
          </c:spPr>
        </c:majorGridlines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>
                <a:solidFill>
                  <a:srgbClr val="666666"/>
                </a:solidFill>
              </a:defRPr>
            </a:pPr>
            <a:endParaRPr lang="en-US"/>
          </a:p>
        </c:txPr>
        <c:crossAx val="48650112"/>
        <c:crosses val="autoZero"/>
        <c:crossBetween val="between"/>
      </c:valAx>
      <c:spPr>
        <a:solidFill>
          <a:srgbClr val="FFFFFF"/>
        </a:solidFill>
        <a:ln w="0">
          <a:noFill/>
        </a:ln>
      </c:spPr>
    </c:plotArea>
    <c:plotVisOnly val="1"/>
    <c:dispBlanksAs val="zero"/>
    <c:showDLblsOverMax val="1"/>
  </c:chart>
  <c:spPr>
    <a:solidFill>
      <a:srgbClr val="FFFFFF"/>
    </a:solidFill>
    <a:ln w="0">
      <a:noFill/>
    </a:ln>
  </c:spPr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v>Taxa de reabertura</c:v>
          </c:tx>
          <c:spPr>
            <a:solidFill>
              <a:srgbClr val="087F8C"/>
            </a:solidFill>
          </c:spPr>
          <c:invertIfNegative val="1"/>
          <c:dPt>
            <c:idx val="0"/>
            <c:invertIfNegative val="0"/>
            <c:bubble3D val="0"/>
            <c:spPr>
              <a:solidFill>
                <a:srgbClr val="D1495B"/>
              </a:solidFill>
            </c:spPr>
            <c:extLst>
              <c:ext xmlns:c16="http://schemas.microsoft.com/office/drawing/2014/chart" uri="{C3380CC4-5D6E-409C-BE32-E72D297353CC}">
                <c16:uniqueId val="{00000001-357A-467F-8EF1-881700154C02}"/>
              </c:ext>
            </c:extLst>
          </c:dPt>
          <c:dPt>
            <c:idx val="1"/>
            <c:invertIfNegative val="0"/>
            <c:bubble3D val="0"/>
            <c:spPr>
              <a:solidFill>
                <a:srgbClr val="F3A712"/>
              </a:solidFill>
            </c:spPr>
            <c:extLst>
              <c:ext xmlns:c16="http://schemas.microsoft.com/office/drawing/2014/chart" uri="{C3380CC4-5D6E-409C-BE32-E72D297353CC}">
                <c16:uniqueId val="{00000003-357A-467F-8EF1-881700154C02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 sz="1125" b="1">
                    <a:solidFill>
                      <a:srgbClr val="14213D"/>
                    </a:solidFill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Lit>
              <c:ptCount val="6"/>
              <c:pt idx="0">
                <c:v>Cobrança</c:v>
              </c:pt>
              <c:pt idx="1">
                <c:v>Suporte técnico</c:v>
              </c:pt>
              <c:pt idx="2">
                <c:v>Acesso e senha</c:v>
              </c:pt>
              <c:pt idx="3">
                <c:v>Entrega</c:v>
              </c:pt>
              <c:pt idx="4">
                <c:v>Produto</c:v>
              </c:pt>
              <c:pt idx="5">
                <c:v>Cancelamento</c:v>
              </c:pt>
            </c:strLit>
          </c:cat>
          <c:val>
            <c:numLit>
              <c:formatCode>General</c:formatCode>
              <c:ptCount val="6"/>
              <c:pt idx="0">
                <c:v>32.1</c:v>
              </c:pt>
              <c:pt idx="1">
                <c:v>24.7</c:v>
              </c:pt>
              <c:pt idx="2">
                <c:v>9.6999999999999993</c:v>
              </c:pt>
              <c:pt idx="3">
                <c:v>8.1999999999999993</c:v>
              </c:pt>
              <c:pt idx="4">
                <c:v>7.8</c:v>
              </c:pt>
              <c:pt idx="5">
                <c:v>7.1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4-357A-467F-8EF1-881700154C02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45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majorGridlines>
          <c:spPr>
            <a:ln w="9525">
              <a:solidFill>
                <a:srgbClr val="CBD3DC"/>
              </a:solidFill>
              <a:prstDash val="solid"/>
            </a:ln>
          </c:spPr>
        </c:majorGridlines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>
                <a:solidFill>
                  <a:srgbClr val="666666"/>
                </a:solidFill>
              </a:defRPr>
            </a:pPr>
            <a:endParaRPr lang="en-US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</c:scaling>
        <c:delete val="0"/>
        <c:axPos val="b"/>
        <c:majorGridlines>
          <c:spPr>
            <a:ln w="0">
              <a:noFill/>
              <a:prstDash val="solid"/>
            </a:ln>
          </c:spPr>
        </c:majorGridlines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>
                <a:solidFill>
                  <a:srgbClr val="666666"/>
                </a:solidFill>
              </a:defRPr>
            </a:pPr>
            <a:endParaRPr lang="en-US"/>
          </a:p>
        </c:txPr>
        <c:crossAx val="48650112"/>
        <c:crosses val="autoZero"/>
        <c:crossBetween val="between"/>
      </c:valAx>
      <c:spPr>
        <a:solidFill>
          <a:srgbClr val="FFFFFF"/>
        </a:solidFill>
        <a:ln w="0">
          <a:noFill/>
        </a:ln>
      </c:spPr>
    </c:plotArea>
    <c:plotVisOnly val="1"/>
    <c:dispBlanksAs val="zero"/>
    <c:showDLblsOverMax val="1"/>
  </c:chart>
  <c:spPr>
    <a:solidFill>
      <a:srgbClr val="FFFFFF"/>
    </a:solidFill>
    <a:ln w="0">
      <a:noFill/>
    </a:ln>
  </c:spPr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Briefing sintético validado - Desafio 28, Post 06.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Briefing sintético validado - Desafio 28, Post 06.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Briefing sintético validado - Desafio 28, Post 06.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Briefing sintético validado - Desafio 28, Post 06.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Briefing sintético validado - Desafio 28, Post 06.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Briefing sintético validado - Desafio 28, Post 06.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ection-1">
            <a:extLst>
              <a:ext uri="{FF2B5EF4-FFF2-40B4-BE49-F238E27FC236}">
                <a16:creationId xmlns:a16="http://schemas.microsoft.com/office/drawing/2014/main" id="{DAD6D341-F167-4C12-AD73-840F6160734A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4953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087F8C"/>
                </a:solidFill>
              </a:defRPr>
            </a:pPr>
            <a:r>
              <a:rPr sz="1050" b="1">
                <a:solidFill>
                  <a:srgbClr val="087F8C"/>
                </a:solidFill>
              </a:rPr>
              <a:t>DECISÃO</a:t>
            </a:r>
          </a:p>
        </p:txBody>
      </p:sp>
      <p:sp>
        <p:nvSpPr>
          <p:cNvPr id="2" name="title-1">
            <a:extLst>
              <a:ext uri="{FF2B5EF4-FFF2-40B4-BE49-F238E27FC236}">
                <a16:creationId xmlns:a16="http://schemas.microsoft.com/office/drawing/2014/main" id="{BA55C01F-F866-4481-936F-87A0DB51AD40}"/>
              </a:ext>
            </a:extLst>
          </p:cNvPr>
          <p:cNvSpPr>
            <a:spLocks noGrp="1"/>
          </p:cNvSpPr>
          <p:nvPr/>
        </p:nvSpPr>
        <p:spPr>
          <a:xfrm>
            <a:off x="685800" y="790575"/>
            <a:ext cx="1082040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3150" b="1">
                <a:solidFill>
                  <a:srgbClr val="14213D"/>
                </a:solidFill>
              </a:defRPr>
            </a:pPr>
            <a:r>
              <a:rPr sz="3150" b="1">
                <a:solidFill>
                  <a:srgbClr val="14213D"/>
                </a:solidFill>
              </a:rPr>
              <a:t>Onde agir primeiro para reduzir atrasos e retrabalho?</a:t>
            </a:r>
          </a:p>
        </p:txBody>
      </p:sp>
      <p:sp>
        <p:nvSpPr>
          <p:cNvPr id="3" name="subtitle-1">
            <a:extLst>
              <a:ext uri="{FF2B5EF4-FFF2-40B4-BE49-F238E27FC236}">
                <a16:creationId xmlns:a16="http://schemas.microsoft.com/office/drawing/2014/main" id="{C0B6F216-1867-40A1-8005-7BE37AB051C5}"/>
              </a:ext>
            </a:extLst>
          </p:cNvPr>
          <p:cNvSpPr>
            <a:spLocks noGrp="1"/>
          </p:cNvSpPr>
          <p:nvPr/>
        </p:nvSpPr>
        <p:spPr>
          <a:xfrm>
            <a:off x="685800" y="1619250"/>
            <a:ext cx="103822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0">
                <a:solidFill>
                  <a:srgbClr val="5E6A7D"/>
                </a:solidFill>
              </a:defRPr>
            </a:pPr>
            <a:r>
              <a:rPr sz="1500" b="0">
                <a:solidFill>
                  <a:srgbClr val="5E6A7D"/>
                </a:solidFill>
              </a:rPr>
              <a:t>A análise de abril a junho aponta dois focos para um piloto de 30 dias.</a:t>
            </a:r>
          </a:p>
        </p:txBody>
      </p:sp>
      <p:sp>
        <p:nvSpPr>
          <p:cNvPr id="4" name="footer-rule-1">
            <a:extLst>
              <a:ext uri="{FF2B5EF4-FFF2-40B4-BE49-F238E27FC236}">
                <a16:creationId xmlns:a16="http://schemas.microsoft.com/office/drawing/2014/main" id="{124024F0-F959-4E62-9A99-883E3F1758F0}"/>
              </a:ext>
            </a:extLst>
          </p:cNvPr>
          <p:cNvSpPr>
            <a:spLocks noGrp="1"/>
          </p:cNvSpPr>
          <p:nvPr/>
        </p:nvSpPr>
        <p:spPr>
          <a:xfrm>
            <a:off x="685800" y="6400800"/>
            <a:ext cx="10820400" cy="19050"/>
          </a:xfrm>
          <a:prstGeom prst="rect">
            <a:avLst/>
          </a:prstGeom>
          <a:solidFill>
            <a:srgbClr val="CBD3DC"/>
          </a:solidFill>
          <a:ln w="0">
            <a:solidFill>
              <a:srgbClr val="CBD3D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footer-1">
            <a:extLst>
              <a:ext uri="{FF2B5EF4-FFF2-40B4-BE49-F238E27FC236}">
                <a16:creationId xmlns:a16="http://schemas.microsoft.com/office/drawing/2014/main" id="{F9835B4A-FC67-46E9-8F94-977ADC35D260}"/>
              </a:ext>
            </a:extLst>
          </p:cNvPr>
          <p:cNvSpPr>
            <a:spLocks noGrp="1"/>
          </p:cNvSpPr>
          <p:nvPr/>
        </p:nvSpPr>
        <p:spPr>
          <a:xfrm>
            <a:off x="685800" y="6515100"/>
            <a:ext cx="5429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825" b="1">
                <a:solidFill>
                  <a:srgbClr val="5E6A7D"/>
                </a:solidFill>
              </a:defRPr>
            </a:pPr>
            <a:r>
              <a:rPr sz="825" b="1">
                <a:solidFill>
                  <a:srgbClr val="5E6A7D"/>
                </a:solidFill>
              </a:rPr>
              <a:t>DESAFIO 28 · POST 06 · DADOS SINTÉTICOS</a:t>
            </a:r>
          </a:p>
        </p:txBody>
      </p:sp>
      <p:sp>
        <p:nvSpPr>
          <p:cNvPr id="6" name="page-1">
            <a:extLst>
              <a:ext uri="{FF2B5EF4-FFF2-40B4-BE49-F238E27FC236}">
                <a16:creationId xmlns:a16="http://schemas.microsoft.com/office/drawing/2014/main" id="{83A3DC66-C26A-4C56-B853-D0434EAF5B4E}"/>
              </a:ext>
            </a:extLst>
          </p:cNvPr>
          <p:cNvSpPr>
            <a:spLocks noGrp="1"/>
          </p:cNvSpPr>
          <p:nvPr/>
        </p:nvSpPr>
        <p:spPr>
          <a:xfrm>
            <a:off x="10839450" y="6515100"/>
            <a:ext cx="666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825" b="1">
                <a:solidFill>
                  <a:srgbClr val="5E6A7D"/>
                </a:solidFill>
              </a:defRPr>
            </a:pPr>
            <a:r>
              <a:rPr sz="825" b="1">
                <a:solidFill>
                  <a:srgbClr val="5E6A7D"/>
                </a:solidFill>
              </a:rPr>
              <a:t>01</a:t>
            </a:r>
          </a:p>
        </p:txBody>
      </p:sp>
      <p:sp>
        <p:nvSpPr>
          <p:cNvPr id="7" name="decision-frame">
            <a:extLst>
              <a:ext uri="{FF2B5EF4-FFF2-40B4-BE49-F238E27FC236}">
                <a16:creationId xmlns:a16="http://schemas.microsoft.com/office/drawing/2014/main" id="{CE3633FB-B44F-4772-969E-EB157E0B6B7C}"/>
              </a:ext>
            </a:extLst>
          </p:cNvPr>
          <p:cNvSpPr>
            <a:spLocks noGrp="1"/>
          </p:cNvSpPr>
          <p:nvPr/>
        </p:nvSpPr>
        <p:spPr>
          <a:xfrm>
            <a:off x="685800" y="2533650"/>
            <a:ext cx="10820400" cy="2857500"/>
          </a:xfrm>
          <a:prstGeom prst="roundRect">
            <a:avLst>
              <a:gd name="adj" fmla="val 5333"/>
            </a:avLst>
          </a:prstGeom>
          <a:solidFill>
            <a:srgbClr val="14213D"/>
          </a:solidFill>
          <a:ln w="9525">
            <a:solidFill>
              <a:srgbClr val="14213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decision-label">
            <a:extLst>
              <a:ext uri="{FF2B5EF4-FFF2-40B4-BE49-F238E27FC236}">
                <a16:creationId xmlns:a16="http://schemas.microsoft.com/office/drawing/2014/main" id="{003C5985-712E-483D-BED6-BCD3B2535427}"/>
              </a:ext>
            </a:extLst>
          </p:cNvPr>
          <p:cNvSpPr>
            <a:spLocks noGrp="1"/>
          </p:cNvSpPr>
          <p:nvPr/>
        </p:nvSpPr>
        <p:spPr>
          <a:xfrm>
            <a:off x="1066800" y="2914650"/>
            <a:ext cx="4000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87D8DD"/>
                </a:solidFill>
              </a:defRPr>
            </a:pPr>
            <a:r>
              <a:rPr sz="1200" b="1">
                <a:solidFill>
                  <a:srgbClr val="87D8DD"/>
                </a:solidFill>
              </a:rPr>
              <a:t>DECISÃO SOLICITADA</a:t>
            </a:r>
          </a:p>
        </p:txBody>
      </p:sp>
      <p:sp>
        <p:nvSpPr>
          <p:cNvPr id="9" name="decision-copy">
            <a:extLst>
              <a:ext uri="{FF2B5EF4-FFF2-40B4-BE49-F238E27FC236}">
                <a16:creationId xmlns:a16="http://schemas.microsoft.com/office/drawing/2014/main" id="{0D89C30D-8F3D-47C3-B0AE-A187DD33EE5C}"/>
              </a:ext>
            </a:extLst>
          </p:cNvPr>
          <p:cNvSpPr>
            <a:spLocks noGrp="1"/>
          </p:cNvSpPr>
          <p:nvPr/>
        </p:nvSpPr>
        <p:spPr>
          <a:xfrm>
            <a:off x="1066800" y="3409950"/>
            <a:ext cx="9239250" cy="1238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550" b="1">
                <a:solidFill>
                  <a:srgbClr val="FFFFFF"/>
                </a:solidFill>
              </a:defRPr>
            </a:pPr>
            <a:r>
              <a:rPr sz="2550" b="1">
                <a:solidFill>
                  <a:srgbClr val="FFFFFF"/>
                </a:solidFill>
              </a:rPr>
              <a:t>Autorizar um piloto de 30 dias para reforçar horários críticos e revisar o fluxo de cobrança duplicada.</a:t>
            </a:r>
          </a:p>
        </p:txBody>
      </p:sp>
      <p:sp>
        <p:nvSpPr>
          <p:cNvPr id="10" name="scope">
            <a:extLst>
              <a:ext uri="{FF2B5EF4-FFF2-40B4-BE49-F238E27FC236}">
                <a16:creationId xmlns:a16="http://schemas.microsoft.com/office/drawing/2014/main" id="{F2A9A329-B09E-471B-BC4B-267440CE2503}"/>
              </a:ext>
            </a:extLst>
          </p:cNvPr>
          <p:cNvSpPr>
            <a:spLocks noGrp="1"/>
          </p:cNvSpPr>
          <p:nvPr/>
        </p:nvSpPr>
        <p:spPr>
          <a:xfrm>
            <a:off x="1066800" y="4953000"/>
            <a:ext cx="92392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0">
                <a:solidFill>
                  <a:srgbClr val="DCE6F0"/>
                </a:solidFill>
              </a:defRPr>
            </a:pPr>
            <a:r>
              <a:rPr sz="1425" b="0">
                <a:solidFill>
                  <a:srgbClr val="DCE6F0"/>
                </a:solidFill>
              </a:rPr>
              <a:t>Escopo limitado · métricas definidas · expansão condicionada aos resultados</a:t>
            </a:r>
          </a:p>
        </p:txBody>
      </p:sp>
    </p:spTree>
    <p:extLst>
      <p:ext uri="{BB962C8B-B14F-4D97-AF65-F5344CB8AC3E}">
        <p14:creationId xmlns:p14="http://schemas.microsoft.com/office/powerpoint/2010/main" val="9143553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section-2">
            <a:extLst>
              <a:ext uri="{FF2B5EF4-FFF2-40B4-BE49-F238E27FC236}">
                <a16:creationId xmlns:a16="http://schemas.microsoft.com/office/drawing/2014/main" id="{EC4A6CEE-C08A-40D4-AF7C-D11313D92545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4953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087F8C"/>
                </a:solidFill>
              </a:defRPr>
            </a:pPr>
            <a:r>
              <a:rPr sz="1050" b="1">
                <a:solidFill>
                  <a:srgbClr val="087F8C"/>
                </a:solidFill>
              </a:rPr>
              <a:t>DIMENSÃO</a:t>
            </a:r>
          </a:p>
        </p:txBody>
      </p:sp>
      <p:sp>
        <p:nvSpPr>
          <p:cNvPr id="2" name="title-2">
            <a:extLst>
              <a:ext uri="{FF2B5EF4-FFF2-40B4-BE49-F238E27FC236}">
                <a16:creationId xmlns:a16="http://schemas.microsoft.com/office/drawing/2014/main" id="{3DB6B851-D835-4B29-A878-FC6F74E42EC8}"/>
              </a:ext>
            </a:extLst>
          </p:cNvPr>
          <p:cNvSpPr>
            <a:spLocks noGrp="1"/>
          </p:cNvSpPr>
          <p:nvPr/>
        </p:nvSpPr>
        <p:spPr>
          <a:xfrm>
            <a:off x="685800" y="790575"/>
            <a:ext cx="1082040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3150" b="1">
                <a:solidFill>
                  <a:srgbClr val="14213D"/>
                </a:solidFill>
              </a:defRPr>
            </a:pPr>
            <a:r>
              <a:rPr sz="3150" b="1">
                <a:solidFill>
                  <a:srgbClr val="14213D"/>
                </a:solidFill>
              </a:rPr>
              <a:t>Quase um terço dos atendimentos ficou fora do SLA</a:t>
            </a:r>
          </a:p>
        </p:txBody>
      </p:sp>
      <p:sp>
        <p:nvSpPr>
          <p:cNvPr id="3" name="subtitle-2">
            <a:extLst>
              <a:ext uri="{FF2B5EF4-FFF2-40B4-BE49-F238E27FC236}">
                <a16:creationId xmlns:a16="http://schemas.microsoft.com/office/drawing/2014/main" id="{50EFB684-76DA-4C76-A7C1-A9D409BFF0A8}"/>
              </a:ext>
            </a:extLst>
          </p:cNvPr>
          <p:cNvSpPr>
            <a:spLocks noGrp="1"/>
          </p:cNvSpPr>
          <p:nvPr/>
        </p:nvSpPr>
        <p:spPr>
          <a:xfrm>
            <a:off x="685800" y="1619250"/>
            <a:ext cx="103822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0">
                <a:solidFill>
                  <a:srgbClr val="5E6A7D"/>
                </a:solidFill>
              </a:defRPr>
            </a:pPr>
            <a:r>
              <a:rPr sz="1500" b="0">
                <a:solidFill>
                  <a:srgbClr val="5E6A7D"/>
                </a:solidFill>
              </a:rPr>
              <a:t>A base contém 720 registros sintéticos e três meses de operação.</a:t>
            </a:r>
          </a:p>
        </p:txBody>
      </p:sp>
      <p:sp>
        <p:nvSpPr>
          <p:cNvPr id="4" name="footer-rule-2">
            <a:extLst>
              <a:ext uri="{FF2B5EF4-FFF2-40B4-BE49-F238E27FC236}">
                <a16:creationId xmlns:a16="http://schemas.microsoft.com/office/drawing/2014/main" id="{513A28FD-F2B3-4916-ABB1-7A8D9E371949}"/>
              </a:ext>
            </a:extLst>
          </p:cNvPr>
          <p:cNvSpPr>
            <a:spLocks noGrp="1"/>
          </p:cNvSpPr>
          <p:nvPr/>
        </p:nvSpPr>
        <p:spPr>
          <a:xfrm>
            <a:off x="685800" y="6400800"/>
            <a:ext cx="10820400" cy="19050"/>
          </a:xfrm>
          <a:prstGeom prst="rect">
            <a:avLst/>
          </a:prstGeom>
          <a:solidFill>
            <a:srgbClr val="CBD3DC"/>
          </a:solidFill>
          <a:ln w="0">
            <a:solidFill>
              <a:srgbClr val="CBD3D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footer-2">
            <a:extLst>
              <a:ext uri="{FF2B5EF4-FFF2-40B4-BE49-F238E27FC236}">
                <a16:creationId xmlns:a16="http://schemas.microsoft.com/office/drawing/2014/main" id="{0AF9F1E9-1586-4289-B288-B99912A326B9}"/>
              </a:ext>
            </a:extLst>
          </p:cNvPr>
          <p:cNvSpPr>
            <a:spLocks noGrp="1"/>
          </p:cNvSpPr>
          <p:nvPr/>
        </p:nvSpPr>
        <p:spPr>
          <a:xfrm>
            <a:off x="685800" y="6515100"/>
            <a:ext cx="5429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825" b="1">
                <a:solidFill>
                  <a:srgbClr val="5E6A7D"/>
                </a:solidFill>
              </a:defRPr>
            </a:pPr>
            <a:r>
              <a:rPr sz="825" b="1">
                <a:solidFill>
                  <a:srgbClr val="5E6A7D"/>
                </a:solidFill>
              </a:rPr>
              <a:t>DESAFIO 28 · POST 06 · DADOS SINTÉTICOS</a:t>
            </a:r>
          </a:p>
        </p:txBody>
      </p:sp>
      <p:sp>
        <p:nvSpPr>
          <p:cNvPr id="6" name="page-2">
            <a:extLst>
              <a:ext uri="{FF2B5EF4-FFF2-40B4-BE49-F238E27FC236}">
                <a16:creationId xmlns:a16="http://schemas.microsoft.com/office/drawing/2014/main" id="{BAF1E886-EEAF-48E0-B6F1-9E0B21130184}"/>
              </a:ext>
            </a:extLst>
          </p:cNvPr>
          <p:cNvSpPr>
            <a:spLocks noGrp="1"/>
          </p:cNvSpPr>
          <p:nvPr/>
        </p:nvSpPr>
        <p:spPr>
          <a:xfrm>
            <a:off x="10839450" y="6515100"/>
            <a:ext cx="666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825" b="1">
                <a:solidFill>
                  <a:srgbClr val="5E6A7D"/>
                </a:solidFill>
              </a:defRPr>
            </a:pPr>
            <a:r>
              <a:rPr sz="825" b="1">
                <a:solidFill>
                  <a:srgbClr val="5E6A7D"/>
                </a:solidFill>
              </a:rPr>
              <a:t>02</a:t>
            </a:r>
          </a:p>
        </p:txBody>
      </p:sp>
      <p:sp>
        <p:nvSpPr>
          <p:cNvPr id="7" name="metric-0">
            <a:extLst>
              <a:ext uri="{FF2B5EF4-FFF2-40B4-BE49-F238E27FC236}">
                <a16:creationId xmlns:a16="http://schemas.microsoft.com/office/drawing/2014/main" id="{ED8E755B-060C-4FD8-BB60-F1129628140E}"/>
              </a:ext>
            </a:extLst>
          </p:cNvPr>
          <p:cNvSpPr>
            <a:spLocks noGrp="1"/>
          </p:cNvSpPr>
          <p:nvPr/>
        </p:nvSpPr>
        <p:spPr>
          <a:xfrm>
            <a:off x="685800" y="2647950"/>
            <a:ext cx="3333750" cy="2381250"/>
          </a:xfrm>
          <a:prstGeom prst="roundRect">
            <a:avLst>
              <a:gd name="adj" fmla="val 4800"/>
            </a:avLst>
          </a:prstGeom>
          <a:solidFill>
            <a:srgbClr val="EAF4F5"/>
          </a:solidFill>
          <a:ln w="9525">
            <a:solidFill>
              <a:srgbClr val="CBD3D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metric-value-0">
            <a:extLst>
              <a:ext uri="{FF2B5EF4-FFF2-40B4-BE49-F238E27FC236}">
                <a16:creationId xmlns:a16="http://schemas.microsoft.com/office/drawing/2014/main" id="{5927C5B6-1078-4A8D-8109-C19DDA286CCD}"/>
              </a:ext>
            </a:extLst>
          </p:cNvPr>
          <p:cNvSpPr>
            <a:spLocks noGrp="1"/>
          </p:cNvSpPr>
          <p:nvPr/>
        </p:nvSpPr>
        <p:spPr>
          <a:xfrm>
            <a:off x="952500" y="2990850"/>
            <a:ext cx="280035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3750" b="1">
                <a:solidFill>
                  <a:srgbClr val="3D8DFF"/>
                </a:solidFill>
              </a:defRPr>
            </a:pPr>
            <a:r>
              <a:rPr sz="3750" b="1">
                <a:solidFill>
                  <a:srgbClr val="3D8DFF"/>
                </a:solidFill>
              </a:rPr>
              <a:t>720</a:t>
            </a:r>
          </a:p>
        </p:txBody>
      </p:sp>
      <p:sp>
        <p:nvSpPr>
          <p:cNvPr id="9" name="metric-name-0">
            <a:extLst>
              <a:ext uri="{FF2B5EF4-FFF2-40B4-BE49-F238E27FC236}">
                <a16:creationId xmlns:a16="http://schemas.microsoft.com/office/drawing/2014/main" id="{AB1CA4A7-E1B6-4A9F-BD10-19A4DE6F8240}"/>
              </a:ext>
            </a:extLst>
          </p:cNvPr>
          <p:cNvSpPr>
            <a:spLocks noGrp="1"/>
          </p:cNvSpPr>
          <p:nvPr/>
        </p:nvSpPr>
        <p:spPr>
          <a:xfrm>
            <a:off x="952500" y="3810000"/>
            <a:ext cx="28003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14213D"/>
                </a:solidFill>
              </a:defRPr>
            </a:pPr>
            <a:r>
              <a:rPr sz="1650" b="1">
                <a:solidFill>
                  <a:srgbClr val="14213D"/>
                </a:solidFill>
              </a:rPr>
              <a:t>atendimentos</a:t>
            </a:r>
          </a:p>
        </p:txBody>
      </p:sp>
      <p:sp>
        <p:nvSpPr>
          <p:cNvPr id="10" name="metric-base-0">
            <a:extLst>
              <a:ext uri="{FF2B5EF4-FFF2-40B4-BE49-F238E27FC236}">
                <a16:creationId xmlns:a16="http://schemas.microsoft.com/office/drawing/2014/main" id="{D42853AC-EE90-4050-92E1-8A661771A9D0}"/>
              </a:ext>
            </a:extLst>
          </p:cNvPr>
          <p:cNvSpPr>
            <a:spLocks noGrp="1"/>
          </p:cNvSpPr>
          <p:nvPr/>
        </p:nvSpPr>
        <p:spPr>
          <a:xfrm>
            <a:off x="952500" y="4381500"/>
            <a:ext cx="28003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5E6A7D"/>
                </a:solidFill>
              </a:defRPr>
            </a:pPr>
            <a:r>
              <a:rPr sz="1275" b="0">
                <a:solidFill>
                  <a:srgbClr val="5E6A7D"/>
                </a:solidFill>
              </a:rPr>
              <a:t>Universo analisado</a:t>
            </a:r>
          </a:p>
        </p:txBody>
      </p:sp>
      <p:sp>
        <p:nvSpPr>
          <p:cNvPr id="11" name="metric-1">
            <a:extLst>
              <a:ext uri="{FF2B5EF4-FFF2-40B4-BE49-F238E27FC236}">
                <a16:creationId xmlns:a16="http://schemas.microsoft.com/office/drawing/2014/main" id="{8CCEF1DC-BA08-48DB-97BD-D1A14FEFE257}"/>
              </a:ext>
            </a:extLst>
          </p:cNvPr>
          <p:cNvSpPr>
            <a:spLocks noGrp="1"/>
          </p:cNvSpPr>
          <p:nvPr/>
        </p:nvSpPr>
        <p:spPr>
          <a:xfrm>
            <a:off x="4314825" y="2647950"/>
            <a:ext cx="3333750" cy="2381250"/>
          </a:xfrm>
          <a:prstGeom prst="roundRect">
            <a:avLst>
              <a:gd name="adj" fmla="val 4800"/>
            </a:avLst>
          </a:prstGeom>
          <a:solidFill>
            <a:srgbClr val="FFF1F3"/>
          </a:solidFill>
          <a:ln w="9525">
            <a:solidFill>
              <a:srgbClr val="CBD3D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2" name="metric-value-1">
            <a:extLst>
              <a:ext uri="{FF2B5EF4-FFF2-40B4-BE49-F238E27FC236}">
                <a16:creationId xmlns:a16="http://schemas.microsoft.com/office/drawing/2014/main" id="{CA4D42F7-8B12-44EC-A00B-6D45DF5757F2}"/>
              </a:ext>
            </a:extLst>
          </p:cNvPr>
          <p:cNvSpPr>
            <a:spLocks noGrp="1"/>
          </p:cNvSpPr>
          <p:nvPr/>
        </p:nvSpPr>
        <p:spPr>
          <a:xfrm>
            <a:off x="4581525" y="2990850"/>
            <a:ext cx="280035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3750" b="1">
                <a:solidFill>
                  <a:srgbClr val="D1495B"/>
                </a:solidFill>
              </a:defRPr>
            </a:pPr>
            <a:r>
              <a:rPr sz="3750" b="1">
                <a:solidFill>
                  <a:srgbClr val="D1495B"/>
                </a:solidFill>
              </a:rPr>
              <a:t>30,8%</a:t>
            </a:r>
          </a:p>
        </p:txBody>
      </p:sp>
      <p:sp>
        <p:nvSpPr>
          <p:cNvPr id="13" name="metric-name-1">
            <a:extLst>
              <a:ext uri="{FF2B5EF4-FFF2-40B4-BE49-F238E27FC236}">
                <a16:creationId xmlns:a16="http://schemas.microsoft.com/office/drawing/2014/main" id="{BEB72016-3229-42A7-9928-FDBDD70D18AB}"/>
              </a:ext>
            </a:extLst>
          </p:cNvPr>
          <p:cNvSpPr>
            <a:spLocks noGrp="1"/>
          </p:cNvSpPr>
          <p:nvPr/>
        </p:nvSpPr>
        <p:spPr>
          <a:xfrm>
            <a:off x="4581525" y="3810000"/>
            <a:ext cx="28003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14213D"/>
                </a:solidFill>
              </a:defRPr>
            </a:pPr>
            <a:r>
              <a:rPr sz="1650" b="1">
                <a:solidFill>
                  <a:srgbClr val="14213D"/>
                </a:solidFill>
              </a:rPr>
              <a:t>fora do SLA</a:t>
            </a:r>
          </a:p>
        </p:txBody>
      </p:sp>
      <p:sp>
        <p:nvSpPr>
          <p:cNvPr id="14" name="metric-base-1">
            <a:extLst>
              <a:ext uri="{FF2B5EF4-FFF2-40B4-BE49-F238E27FC236}">
                <a16:creationId xmlns:a16="http://schemas.microsoft.com/office/drawing/2014/main" id="{547ED85E-04B9-461D-A2E0-D84FF6F1AE7D}"/>
              </a:ext>
            </a:extLst>
          </p:cNvPr>
          <p:cNvSpPr>
            <a:spLocks noGrp="1"/>
          </p:cNvSpPr>
          <p:nvPr/>
        </p:nvSpPr>
        <p:spPr>
          <a:xfrm>
            <a:off x="4581525" y="4381500"/>
            <a:ext cx="28003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5E6A7D"/>
                </a:solidFill>
              </a:defRPr>
            </a:pPr>
            <a:r>
              <a:rPr sz="1275" b="0">
                <a:solidFill>
                  <a:srgbClr val="5E6A7D"/>
                </a:solidFill>
              </a:rPr>
              <a:t>222 de 720</a:t>
            </a:r>
          </a:p>
        </p:txBody>
      </p:sp>
      <p:sp>
        <p:nvSpPr>
          <p:cNvPr id="15" name="metric-2">
            <a:extLst>
              <a:ext uri="{FF2B5EF4-FFF2-40B4-BE49-F238E27FC236}">
                <a16:creationId xmlns:a16="http://schemas.microsoft.com/office/drawing/2014/main" id="{A4F94CC8-78E0-4CDA-8920-46E56CA28C28}"/>
              </a:ext>
            </a:extLst>
          </p:cNvPr>
          <p:cNvSpPr>
            <a:spLocks noGrp="1"/>
          </p:cNvSpPr>
          <p:nvPr/>
        </p:nvSpPr>
        <p:spPr>
          <a:xfrm>
            <a:off x="7943850" y="2647950"/>
            <a:ext cx="3333750" cy="2381250"/>
          </a:xfrm>
          <a:prstGeom prst="roundRect">
            <a:avLst>
              <a:gd name="adj" fmla="val 4800"/>
            </a:avLst>
          </a:prstGeom>
          <a:solidFill>
            <a:srgbClr val="FFF7E8"/>
          </a:solidFill>
          <a:ln w="9525">
            <a:solidFill>
              <a:srgbClr val="CBD3D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6" name="metric-value-2">
            <a:extLst>
              <a:ext uri="{FF2B5EF4-FFF2-40B4-BE49-F238E27FC236}">
                <a16:creationId xmlns:a16="http://schemas.microsoft.com/office/drawing/2014/main" id="{B5BD09FD-80A1-4ADB-BB3B-7945F31BFDD5}"/>
              </a:ext>
            </a:extLst>
          </p:cNvPr>
          <p:cNvSpPr>
            <a:spLocks noGrp="1"/>
          </p:cNvSpPr>
          <p:nvPr/>
        </p:nvSpPr>
        <p:spPr>
          <a:xfrm>
            <a:off x="8210550" y="2990850"/>
            <a:ext cx="280035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3750" b="1">
                <a:solidFill>
                  <a:srgbClr val="F3A712"/>
                </a:solidFill>
              </a:defRPr>
            </a:pPr>
            <a:r>
              <a:rPr sz="3750" b="1">
                <a:solidFill>
                  <a:srgbClr val="F3A712"/>
                </a:solidFill>
              </a:rPr>
              <a:t>15,8%</a:t>
            </a:r>
          </a:p>
        </p:txBody>
      </p:sp>
      <p:sp>
        <p:nvSpPr>
          <p:cNvPr id="17" name="metric-name-2">
            <a:extLst>
              <a:ext uri="{FF2B5EF4-FFF2-40B4-BE49-F238E27FC236}">
                <a16:creationId xmlns:a16="http://schemas.microsoft.com/office/drawing/2014/main" id="{A986680A-E520-470B-9073-F4543127B33F}"/>
              </a:ext>
            </a:extLst>
          </p:cNvPr>
          <p:cNvSpPr>
            <a:spLocks noGrp="1"/>
          </p:cNvSpPr>
          <p:nvPr/>
        </p:nvSpPr>
        <p:spPr>
          <a:xfrm>
            <a:off x="8210550" y="3810000"/>
            <a:ext cx="28003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14213D"/>
                </a:solidFill>
              </a:defRPr>
            </a:pPr>
            <a:r>
              <a:rPr sz="1650" b="1">
                <a:solidFill>
                  <a:srgbClr val="14213D"/>
                </a:solidFill>
              </a:rPr>
              <a:t>reabertos</a:t>
            </a:r>
          </a:p>
        </p:txBody>
      </p:sp>
      <p:sp>
        <p:nvSpPr>
          <p:cNvPr id="18" name="metric-base-2">
            <a:extLst>
              <a:ext uri="{FF2B5EF4-FFF2-40B4-BE49-F238E27FC236}">
                <a16:creationId xmlns:a16="http://schemas.microsoft.com/office/drawing/2014/main" id="{E3F619AE-8935-4AB5-81EB-6A7606BD8F8F}"/>
              </a:ext>
            </a:extLst>
          </p:cNvPr>
          <p:cNvSpPr>
            <a:spLocks noGrp="1"/>
          </p:cNvSpPr>
          <p:nvPr/>
        </p:nvSpPr>
        <p:spPr>
          <a:xfrm>
            <a:off x="8210550" y="4381500"/>
            <a:ext cx="28003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5E6A7D"/>
                </a:solidFill>
              </a:defRPr>
            </a:pPr>
            <a:r>
              <a:rPr sz="1275" b="0">
                <a:solidFill>
                  <a:srgbClr val="5E6A7D"/>
                </a:solidFill>
              </a:rPr>
              <a:t>114 de 720</a:t>
            </a:r>
          </a:p>
        </p:txBody>
      </p:sp>
      <p:sp>
        <p:nvSpPr>
          <p:cNvPr id="19" name="interpretation">
            <a:extLst>
              <a:ext uri="{FF2B5EF4-FFF2-40B4-BE49-F238E27FC236}">
                <a16:creationId xmlns:a16="http://schemas.microsoft.com/office/drawing/2014/main" id="{7F78E852-2F9A-4B76-8EFB-8F37BE390047}"/>
              </a:ext>
            </a:extLst>
          </p:cNvPr>
          <p:cNvSpPr>
            <a:spLocks noGrp="1"/>
          </p:cNvSpPr>
          <p:nvPr/>
        </p:nvSpPr>
        <p:spPr>
          <a:xfrm>
            <a:off x="685800" y="5429250"/>
            <a:ext cx="108204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14213D"/>
                </a:solidFill>
              </a:defRPr>
            </a:pPr>
            <a:r>
              <a:rPr sz="1650" b="1">
                <a:solidFill>
                  <a:srgbClr val="14213D"/>
                </a:solidFill>
              </a:rPr>
              <a:t>Leitura: o problema é relevante, mas a média geral esconde onde a quebra se concentra.</a:t>
            </a:r>
          </a:p>
        </p:txBody>
      </p:sp>
    </p:spTree>
    <p:extLst>
      <p:ext uri="{BB962C8B-B14F-4D97-AF65-F5344CB8AC3E}">
        <p14:creationId xmlns:p14="http://schemas.microsoft.com/office/powerpoint/2010/main" val="7477747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ection-3">
            <a:extLst>
              <a:ext uri="{FF2B5EF4-FFF2-40B4-BE49-F238E27FC236}">
                <a16:creationId xmlns:a16="http://schemas.microsoft.com/office/drawing/2014/main" id="{C80FE921-40AD-49A7-9368-92ACAB3D2ED5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4953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087F8C"/>
                </a:solidFill>
              </a:defRPr>
            </a:pPr>
            <a:r>
              <a:rPr sz="1050" b="1">
                <a:solidFill>
                  <a:srgbClr val="087F8C"/>
                </a:solidFill>
              </a:rPr>
              <a:t>CONCENTRAÇÃO DO RISCO</a:t>
            </a:r>
          </a:p>
        </p:txBody>
      </p:sp>
      <p:sp>
        <p:nvSpPr>
          <p:cNvPr id="2" name="title-3">
            <a:extLst>
              <a:ext uri="{FF2B5EF4-FFF2-40B4-BE49-F238E27FC236}">
                <a16:creationId xmlns:a16="http://schemas.microsoft.com/office/drawing/2014/main" id="{8E828B51-6725-4C3C-A7CA-55248B0B2BBD}"/>
              </a:ext>
            </a:extLst>
          </p:cNvPr>
          <p:cNvSpPr>
            <a:spLocks noGrp="1"/>
          </p:cNvSpPr>
          <p:nvPr/>
        </p:nvSpPr>
        <p:spPr>
          <a:xfrm>
            <a:off x="685800" y="790575"/>
            <a:ext cx="1082040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3150" b="1">
                <a:solidFill>
                  <a:srgbClr val="14213D"/>
                </a:solidFill>
              </a:defRPr>
            </a:pPr>
            <a:r>
              <a:rPr sz="3150" b="1">
                <a:solidFill>
                  <a:srgbClr val="14213D"/>
                </a:solidFill>
              </a:rPr>
              <a:t>O turno da noite exige verificação imediata</a:t>
            </a:r>
          </a:p>
        </p:txBody>
      </p:sp>
      <p:sp>
        <p:nvSpPr>
          <p:cNvPr id="3" name="subtitle-3">
            <a:extLst>
              <a:ext uri="{FF2B5EF4-FFF2-40B4-BE49-F238E27FC236}">
                <a16:creationId xmlns:a16="http://schemas.microsoft.com/office/drawing/2014/main" id="{6BE4B4A2-E94F-4477-8DF9-E6524FB494C3}"/>
              </a:ext>
            </a:extLst>
          </p:cNvPr>
          <p:cNvSpPr>
            <a:spLocks noGrp="1"/>
          </p:cNvSpPr>
          <p:nvPr/>
        </p:nvSpPr>
        <p:spPr>
          <a:xfrm>
            <a:off x="685800" y="1619250"/>
            <a:ext cx="103822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0">
                <a:solidFill>
                  <a:srgbClr val="5E6A7D"/>
                </a:solidFill>
              </a:defRPr>
            </a:pPr>
            <a:r>
              <a:rPr sz="1500" b="0">
                <a:solidFill>
                  <a:srgbClr val="5E6A7D"/>
                </a:solidFill>
              </a:rPr>
              <a:t>Todos os 108 registros noturnos ficaram fora da meta nesta base.</a:t>
            </a:r>
          </a:p>
        </p:txBody>
      </p:sp>
      <p:sp>
        <p:nvSpPr>
          <p:cNvPr id="4" name="footer-rule-3">
            <a:extLst>
              <a:ext uri="{FF2B5EF4-FFF2-40B4-BE49-F238E27FC236}">
                <a16:creationId xmlns:a16="http://schemas.microsoft.com/office/drawing/2014/main" id="{DF0E06E7-8B82-4B83-8C6B-052CB434A355}"/>
              </a:ext>
            </a:extLst>
          </p:cNvPr>
          <p:cNvSpPr>
            <a:spLocks noGrp="1"/>
          </p:cNvSpPr>
          <p:nvPr/>
        </p:nvSpPr>
        <p:spPr>
          <a:xfrm>
            <a:off x="685800" y="6400800"/>
            <a:ext cx="10820400" cy="19050"/>
          </a:xfrm>
          <a:prstGeom prst="rect">
            <a:avLst/>
          </a:prstGeom>
          <a:solidFill>
            <a:srgbClr val="CBD3DC"/>
          </a:solidFill>
          <a:ln w="0">
            <a:solidFill>
              <a:srgbClr val="CBD3D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footer-3">
            <a:extLst>
              <a:ext uri="{FF2B5EF4-FFF2-40B4-BE49-F238E27FC236}">
                <a16:creationId xmlns:a16="http://schemas.microsoft.com/office/drawing/2014/main" id="{15BF628D-4F8B-40F9-B9D9-B44A9344F48B}"/>
              </a:ext>
            </a:extLst>
          </p:cNvPr>
          <p:cNvSpPr>
            <a:spLocks noGrp="1"/>
          </p:cNvSpPr>
          <p:nvPr/>
        </p:nvSpPr>
        <p:spPr>
          <a:xfrm>
            <a:off x="685800" y="6515100"/>
            <a:ext cx="5429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825" b="1">
                <a:solidFill>
                  <a:srgbClr val="5E6A7D"/>
                </a:solidFill>
              </a:defRPr>
            </a:pPr>
            <a:r>
              <a:rPr sz="825" b="1">
                <a:solidFill>
                  <a:srgbClr val="5E6A7D"/>
                </a:solidFill>
              </a:rPr>
              <a:t>DESAFIO 28 · POST 06 · DADOS SINTÉTICOS</a:t>
            </a:r>
          </a:p>
        </p:txBody>
      </p:sp>
      <p:sp>
        <p:nvSpPr>
          <p:cNvPr id="6" name="page-3">
            <a:extLst>
              <a:ext uri="{FF2B5EF4-FFF2-40B4-BE49-F238E27FC236}">
                <a16:creationId xmlns:a16="http://schemas.microsoft.com/office/drawing/2014/main" id="{6AA31898-98BE-4C34-88E0-55068240F4DF}"/>
              </a:ext>
            </a:extLst>
          </p:cNvPr>
          <p:cNvSpPr>
            <a:spLocks noGrp="1"/>
          </p:cNvSpPr>
          <p:nvPr/>
        </p:nvSpPr>
        <p:spPr>
          <a:xfrm>
            <a:off x="10839450" y="6515100"/>
            <a:ext cx="666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825" b="1">
                <a:solidFill>
                  <a:srgbClr val="5E6A7D"/>
                </a:solidFill>
              </a:defRPr>
            </a:pPr>
            <a:r>
              <a:rPr sz="825" b="1">
                <a:solidFill>
                  <a:srgbClr val="5E6A7D"/>
                </a:solidFill>
              </a:rPr>
              <a:t>03</a:t>
            </a:r>
          </a:p>
        </p:txBody>
      </p:sp>
      <p:graphicFrame>
        <p:nvGraphicFramePr>
          <p:cNvPr id="19" name="Chart"/>
          <p:cNvGraphicFramePr/>
          <p:nvPr/>
        </p:nvGraphicFramePr>
        <p:xfrm>
          <a:off x="685800" y="2400300"/>
          <a:ext cx="6858000" cy="3352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night-note">
            <a:extLst>
              <a:ext uri="{FF2B5EF4-FFF2-40B4-BE49-F238E27FC236}">
                <a16:creationId xmlns:a16="http://schemas.microsoft.com/office/drawing/2014/main" id="{56FE6B8F-F97D-425A-B4AA-0A9F060F0441}"/>
              </a:ext>
            </a:extLst>
          </p:cNvPr>
          <p:cNvSpPr>
            <a:spLocks noGrp="1"/>
          </p:cNvSpPr>
          <p:nvPr/>
        </p:nvSpPr>
        <p:spPr>
          <a:xfrm>
            <a:off x="7905750" y="2619375"/>
            <a:ext cx="3600450" cy="2714625"/>
          </a:xfrm>
          <a:prstGeom prst="roundRect">
            <a:avLst>
              <a:gd name="adj" fmla="val 4211"/>
            </a:avLst>
          </a:prstGeom>
          <a:solidFill>
            <a:srgbClr val="FFF1F3"/>
          </a:solidFill>
          <a:ln w="9525">
            <a:solidFill>
              <a:srgbClr val="D1495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night-kicker">
            <a:extLst>
              <a:ext uri="{FF2B5EF4-FFF2-40B4-BE49-F238E27FC236}">
                <a16:creationId xmlns:a16="http://schemas.microsoft.com/office/drawing/2014/main" id="{2AB62EED-6A18-4BED-9228-9AA0A4A0FDCF}"/>
              </a:ext>
            </a:extLst>
          </p:cNvPr>
          <p:cNvSpPr>
            <a:spLocks noGrp="1"/>
          </p:cNvSpPr>
          <p:nvPr/>
        </p:nvSpPr>
        <p:spPr>
          <a:xfrm>
            <a:off x="8191500" y="2914650"/>
            <a:ext cx="2952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D1495B"/>
                </a:solidFill>
              </a:defRPr>
            </a:pPr>
            <a:r>
              <a:rPr sz="1125" b="1">
                <a:solidFill>
                  <a:srgbClr val="D1495B"/>
                </a:solidFill>
              </a:rPr>
              <a:t>SINAL CRÍTICO</a:t>
            </a:r>
          </a:p>
        </p:txBody>
      </p:sp>
      <p:sp>
        <p:nvSpPr>
          <p:cNvPr id="10" name="night-value">
            <a:extLst>
              <a:ext uri="{FF2B5EF4-FFF2-40B4-BE49-F238E27FC236}">
                <a16:creationId xmlns:a16="http://schemas.microsoft.com/office/drawing/2014/main" id="{DCFFEB67-D6A9-4E5F-A2B1-D9BB7CBFA0C6}"/>
              </a:ext>
            </a:extLst>
          </p:cNvPr>
          <p:cNvSpPr>
            <a:spLocks noGrp="1"/>
          </p:cNvSpPr>
          <p:nvPr/>
        </p:nvSpPr>
        <p:spPr>
          <a:xfrm>
            <a:off x="8191500" y="3333750"/>
            <a:ext cx="29527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850" b="1">
                <a:solidFill>
                  <a:srgbClr val="D1495B"/>
                </a:solidFill>
              </a:defRPr>
            </a:pPr>
            <a:r>
              <a:rPr sz="2850" b="1">
                <a:solidFill>
                  <a:srgbClr val="D1495B"/>
                </a:solidFill>
              </a:rPr>
              <a:t>108 de 108</a:t>
            </a:r>
          </a:p>
        </p:txBody>
      </p:sp>
      <p:sp>
        <p:nvSpPr>
          <p:cNvPr id="11" name="night-copy">
            <a:extLst>
              <a:ext uri="{FF2B5EF4-FFF2-40B4-BE49-F238E27FC236}">
                <a16:creationId xmlns:a16="http://schemas.microsoft.com/office/drawing/2014/main" id="{0B1604EB-8132-4EC9-8B1E-BC931D80722E}"/>
              </a:ext>
            </a:extLst>
          </p:cNvPr>
          <p:cNvSpPr>
            <a:spLocks noGrp="1"/>
          </p:cNvSpPr>
          <p:nvPr/>
        </p:nvSpPr>
        <p:spPr>
          <a:xfrm>
            <a:off x="8191500" y="4048125"/>
            <a:ext cx="2857500" cy="1095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0">
                <a:solidFill>
                  <a:srgbClr val="14213D"/>
                </a:solidFill>
              </a:defRPr>
            </a:pPr>
            <a:r>
              <a:rPr sz="1500" b="0">
                <a:solidFill>
                  <a:srgbClr val="14213D"/>
                </a:solidFill>
              </a:rPr>
              <a:t>O resultado pede revisão de capacidade, escala e regra de SLA antes de uma mudança permanente.</a:t>
            </a:r>
          </a:p>
        </p:txBody>
      </p:sp>
      <p:sp>
        <p:nvSpPr>
          <p:cNvPr id="12" name="night-base">
            <a:extLst>
              <a:ext uri="{FF2B5EF4-FFF2-40B4-BE49-F238E27FC236}">
                <a16:creationId xmlns:a16="http://schemas.microsoft.com/office/drawing/2014/main" id="{E07954F4-4E98-439E-B305-187471BBE093}"/>
              </a:ext>
            </a:extLst>
          </p:cNvPr>
          <p:cNvSpPr>
            <a:spLocks noGrp="1"/>
          </p:cNvSpPr>
          <p:nvPr/>
        </p:nvSpPr>
        <p:spPr>
          <a:xfrm>
            <a:off x="8191500" y="5314950"/>
            <a:ext cx="2857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>
                <a:solidFill>
                  <a:srgbClr val="5E6A7D"/>
                </a:solidFill>
              </a:defRPr>
            </a:pPr>
            <a:r>
              <a:rPr sz="1125" b="0">
                <a:solidFill>
                  <a:srgbClr val="5E6A7D"/>
                </a:solidFill>
              </a:rPr>
              <a:t>Manhã: 72/261 · Tarde: 42/351</a:t>
            </a:r>
          </a:p>
        </p:txBody>
      </p:sp>
    </p:spTree>
    <p:extLst>
      <p:ext uri="{BB962C8B-B14F-4D97-AF65-F5344CB8AC3E}">
        <p14:creationId xmlns:p14="http://schemas.microsoft.com/office/powerpoint/2010/main" val="3170030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ection-4">
            <a:extLst>
              <a:ext uri="{FF2B5EF4-FFF2-40B4-BE49-F238E27FC236}">
                <a16:creationId xmlns:a16="http://schemas.microsoft.com/office/drawing/2014/main" id="{24DD18B4-B19D-44A0-8FF5-D6200319725D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4953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087F8C"/>
                </a:solidFill>
              </a:defRPr>
            </a:pPr>
            <a:r>
              <a:rPr sz="1050" b="1">
                <a:solidFill>
                  <a:srgbClr val="087F8C"/>
                </a:solidFill>
              </a:rPr>
              <a:t>RETRABALHO</a:t>
            </a:r>
          </a:p>
        </p:txBody>
      </p:sp>
      <p:sp>
        <p:nvSpPr>
          <p:cNvPr id="2" name="title-4">
            <a:extLst>
              <a:ext uri="{FF2B5EF4-FFF2-40B4-BE49-F238E27FC236}">
                <a16:creationId xmlns:a16="http://schemas.microsoft.com/office/drawing/2014/main" id="{2B5853E8-C69D-4442-9FA8-08D165779667}"/>
              </a:ext>
            </a:extLst>
          </p:cNvPr>
          <p:cNvSpPr>
            <a:spLocks noGrp="1"/>
          </p:cNvSpPr>
          <p:nvPr/>
        </p:nvSpPr>
        <p:spPr>
          <a:xfrm>
            <a:off x="685800" y="790575"/>
            <a:ext cx="1082040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3150" b="1">
                <a:solidFill>
                  <a:srgbClr val="14213D"/>
                </a:solidFill>
              </a:defRPr>
            </a:pPr>
            <a:r>
              <a:rPr sz="3150" b="1">
                <a:solidFill>
                  <a:srgbClr val="14213D"/>
                </a:solidFill>
              </a:rPr>
              <a:t>Cobrança reabre mais; suporte demora mais</a:t>
            </a:r>
          </a:p>
        </p:txBody>
      </p:sp>
      <p:sp>
        <p:nvSpPr>
          <p:cNvPr id="3" name="subtitle-4">
            <a:extLst>
              <a:ext uri="{FF2B5EF4-FFF2-40B4-BE49-F238E27FC236}">
                <a16:creationId xmlns:a16="http://schemas.microsoft.com/office/drawing/2014/main" id="{97B363D6-144F-4C00-9C46-4A2986F2A7B4}"/>
              </a:ext>
            </a:extLst>
          </p:cNvPr>
          <p:cNvSpPr>
            <a:spLocks noGrp="1"/>
          </p:cNvSpPr>
          <p:nvPr/>
        </p:nvSpPr>
        <p:spPr>
          <a:xfrm>
            <a:off x="685800" y="1619250"/>
            <a:ext cx="103822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0">
                <a:solidFill>
                  <a:srgbClr val="5E6A7D"/>
                </a:solidFill>
              </a:defRPr>
            </a:pPr>
            <a:r>
              <a:rPr sz="1500" b="0">
                <a:solidFill>
                  <a:srgbClr val="5E6A7D"/>
                </a:solidFill>
              </a:rPr>
              <a:t>São problemas diferentes e pedem respostas diferentes.</a:t>
            </a:r>
          </a:p>
        </p:txBody>
      </p:sp>
      <p:sp>
        <p:nvSpPr>
          <p:cNvPr id="4" name="footer-rule-4">
            <a:extLst>
              <a:ext uri="{FF2B5EF4-FFF2-40B4-BE49-F238E27FC236}">
                <a16:creationId xmlns:a16="http://schemas.microsoft.com/office/drawing/2014/main" id="{30C1498B-9D20-4AF6-AEEE-8926B45D6A27}"/>
              </a:ext>
            </a:extLst>
          </p:cNvPr>
          <p:cNvSpPr>
            <a:spLocks noGrp="1"/>
          </p:cNvSpPr>
          <p:nvPr/>
        </p:nvSpPr>
        <p:spPr>
          <a:xfrm>
            <a:off x="685800" y="6400800"/>
            <a:ext cx="10820400" cy="19050"/>
          </a:xfrm>
          <a:prstGeom prst="rect">
            <a:avLst/>
          </a:prstGeom>
          <a:solidFill>
            <a:srgbClr val="CBD3DC"/>
          </a:solidFill>
          <a:ln w="0">
            <a:solidFill>
              <a:srgbClr val="CBD3D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footer-4">
            <a:extLst>
              <a:ext uri="{FF2B5EF4-FFF2-40B4-BE49-F238E27FC236}">
                <a16:creationId xmlns:a16="http://schemas.microsoft.com/office/drawing/2014/main" id="{806A3D47-77A6-43BF-9179-C7E07A03D8AA}"/>
              </a:ext>
            </a:extLst>
          </p:cNvPr>
          <p:cNvSpPr>
            <a:spLocks noGrp="1"/>
          </p:cNvSpPr>
          <p:nvPr/>
        </p:nvSpPr>
        <p:spPr>
          <a:xfrm>
            <a:off x="685800" y="6515100"/>
            <a:ext cx="5429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825" b="1">
                <a:solidFill>
                  <a:srgbClr val="5E6A7D"/>
                </a:solidFill>
              </a:defRPr>
            </a:pPr>
            <a:r>
              <a:rPr sz="825" b="1">
                <a:solidFill>
                  <a:srgbClr val="5E6A7D"/>
                </a:solidFill>
              </a:rPr>
              <a:t>DESAFIO 28 · POST 06 · DADOS SINTÉTICOS</a:t>
            </a:r>
          </a:p>
        </p:txBody>
      </p:sp>
      <p:sp>
        <p:nvSpPr>
          <p:cNvPr id="6" name="page-4">
            <a:extLst>
              <a:ext uri="{FF2B5EF4-FFF2-40B4-BE49-F238E27FC236}">
                <a16:creationId xmlns:a16="http://schemas.microsoft.com/office/drawing/2014/main" id="{49D72AA4-FA25-4226-A642-F8D4069227A0}"/>
              </a:ext>
            </a:extLst>
          </p:cNvPr>
          <p:cNvSpPr>
            <a:spLocks noGrp="1"/>
          </p:cNvSpPr>
          <p:nvPr/>
        </p:nvSpPr>
        <p:spPr>
          <a:xfrm>
            <a:off x="10839450" y="6515100"/>
            <a:ext cx="666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825" b="1">
                <a:solidFill>
                  <a:srgbClr val="5E6A7D"/>
                </a:solidFill>
              </a:defRPr>
            </a:pPr>
            <a:r>
              <a:rPr sz="825" b="1">
                <a:solidFill>
                  <a:srgbClr val="5E6A7D"/>
                </a:solidFill>
              </a:rPr>
              <a:t>04</a:t>
            </a:r>
          </a:p>
        </p:txBody>
      </p:sp>
      <p:graphicFrame>
        <p:nvGraphicFramePr>
          <p:cNvPr id="20" name="Chart"/>
          <p:cNvGraphicFramePr/>
          <p:nvPr/>
        </p:nvGraphicFramePr>
        <p:xfrm>
          <a:off x="685800" y="2476500"/>
          <a:ext cx="6286500" cy="31432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support-note">
            <a:extLst>
              <a:ext uri="{FF2B5EF4-FFF2-40B4-BE49-F238E27FC236}">
                <a16:creationId xmlns:a16="http://schemas.microsoft.com/office/drawing/2014/main" id="{9AA6EA86-1A58-45B8-89D1-417692477A11}"/>
              </a:ext>
            </a:extLst>
          </p:cNvPr>
          <p:cNvSpPr>
            <a:spLocks noGrp="1"/>
          </p:cNvSpPr>
          <p:nvPr/>
        </p:nvSpPr>
        <p:spPr>
          <a:xfrm>
            <a:off x="7429500" y="2628900"/>
            <a:ext cx="4076700" cy="2381250"/>
          </a:xfrm>
          <a:prstGeom prst="roundRect">
            <a:avLst>
              <a:gd name="adj" fmla="val 4800"/>
            </a:avLst>
          </a:prstGeom>
          <a:solidFill>
            <a:srgbClr val="EAF4F5"/>
          </a:solidFill>
          <a:ln w="9525">
            <a:solidFill>
              <a:srgbClr val="087F8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support-kicker">
            <a:extLst>
              <a:ext uri="{FF2B5EF4-FFF2-40B4-BE49-F238E27FC236}">
                <a16:creationId xmlns:a16="http://schemas.microsoft.com/office/drawing/2014/main" id="{C43EE6A4-1054-4CF7-89E8-C33D97256412}"/>
              </a:ext>
            </a:extLst>
          </p:cNvPr>
          <p:cNvSpPr>
            <a:spLocks noGrp="1"/>
          </p:cNvSpPr>
          <p:nvPr/>
        </p:nvSpPr>
        <p:spPr>
          <a:xfrm>
            <a:off x="7734300" y="2952750"/>
            <a:ext cx="3333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087F8C"/>
                </a:solidFill>
              </a:defRPr>
            </a:pPr>
            <a:r>
              <a:rPr sz="1125" b="1">
                <a:solidFill>
                  <a:srgbClr val="087F8C"/>
                </a:solidFill>
              </a:rPr>
              <a:t>SUPORTE TÉCNICO</a:t>
            </a:r>
          </a:p>
        </p:txBody>
      </p:sp>
      <p:sp>
        <p:nvSpPr>
          <p:cNvPr id="10" name="support-value">
            <a:extLst>
              <a:ext uri="{FF2B5EF4-FFF2-40B4-BE49-F238E27FC236}">
                <a16:creationId xmlns:a16="http://schemas.microsoft.com/office/drawing/2014/main" id="{A271D516-7351-4C4E-A412-CEA5BF1FB075}"/>
              </a:ext>
            </a:extLst>
          </p:cNvPr>
          <p:cNvSpPr>
            <a:spLocks noGrp="1"/>
          </p:cNvSpPr>
          <p:nvPr/>
        </p:nvSpPr>
        <p:spPr>
          <a:xfrm>
            <a:off x="7734300" y="3352800"/>
            <a:ext cx="33337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3150" b="1">
                <a:solidFill>
                  <a:srgbClr val="14213D"/>
                </a:solidFill>
              </a:defRPr>
            </a:pPr>
            <a:r>
              <a:rPr sz="3150" b="1">
                <a:solidFill>
                  <a:srgbClr val="14213D"/>
                </a:solidFill>
              </a:rPr>
              <a:t>23,4 h</a:t>
            </a:r>
          </a:p>
        </p:txBody>
      </p:sp>
      <p:sp>
        <p:nvSpPr>
          <p:cNvPr id="11" name="support-caption">
            <a:extLst>
              <a:ext uri="{FF2B5EF4-FFF2-40B4-BE49-F238E27FC236}">
                <a16:creationId xmlns:a16="http://schemas.microsoft.com/office/drawing/2014/main" id="{1190DE17-3188-4B20-8916-C419B96D7E8C}"/>
              </a:ext>
            </a:extLst>
          </p:cNvPr>
          <p:cNvSpPr>
            <a:spLocks noGrp="1"/>
          </p:cNvSpPr>
          <p:nvPr/>
        </p:nvSpPr>
        <p:spPr>
          <a:xfrm>
            <a:off x="7734300" y="3962400"/>
            <a:ext cx="3333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1">
                <a:solidFill>
                  <a:srgbClr val="14213D"/>
                </a:solidFill>
              </a:defRPr>
            </a:pPr>
            <a:r>
              <a:rPr sz="1425" b="1">
                <a:solidFill>
                  <a:srgbClr val="14213D"/>
                </a:solidFill>
              </a:rPr>
              <a:t>mediana de resolução</a:t>
            </a:r>
          </a:p>
        </p:txBody>
      </p:sp>
      <p:sp>
        <p:nvSpPr>
          <p:cNvPr id="12" name="support-detail">
            <a:extLst>
              <a:ext uri="{FF2B5EF4-FFF2-40B4-BE49-F238E27FC236}">
                <a16:creationId xmlns:a16="http://schemas.microsoft.com/office/drawing/2014/main" id="{D5757A22-9351-4400-A1BA-8D97CC064C30}"/>
              </a:ext>
            </a:extLst>
          </p:cNvPr>
          <p:cNvSpPr>
            <a:spLocks noGrp="1"/>
          </p:cNvSpPr>
          <p:nvPr/>
        </p:nvSpPr>
        <p:spPr>
          <a:xfrm>
            <a:off x="7734300" y="4467225"/>
            <a:ext cx="33337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5E6A7D"/>
                </a:solidFill>
              </a:defRPr>
            </a:pPr>
            <a:r>
              <a:rPr sz="1275" b="0">
                <a:solidFill>
                  <a:srgbClr val="5E6A7D"/>
                </a:solidFill>
              </a:rPr>
              <a:t>P90: 31,6 horas</a:t>
            </a:r>
          </a:p>
        </p:txBody>
      </p:sp>
      <p:sp>
        <p:nvSpPr>
          <p:cNvPr id="13" name="reopen-base">
            <a:extLst>
              <a:ext uri="{FF2B5EF4-FFF2-40B4-BE49-F238E27FC236}">
                <a16:creationId xmlns:a16="http://schemas.microsoft.com/office/drawing/2014/main" id="{5E3C5A51-2D88-4B57-8FE4-ED14DC2A05A3}"/>
              </a:ext>
            </a:extLst>
          </p:cNvPr>
          <p:cNvSpPr>
            <a:spLocks noGrp="1"/>
          </p:cNvSpPr>
          <p:nvPr/>
        </p:nvSpPr>
        <p:spPr>
          <a:xfrm>
            <a:off x="7429500" y="5238750"/>
            <a:ext cx="40767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5E6A7D"/>
                </a:solidFill>
              </a:defRPr>
            </a:pPr>
            <a:r>
              <a:rPr sz="1275" b="0">
                <a:solidFill>
                  <a:srgbClr val="5E6A7D"/>
                </a:solidFill>
              </a:rPr>
              <a:t>Cobrança: 54 reabertos em 168 atendimentos. Suporte técnico: 21 em 85.</a:t>
            </a:r>
          </a:p>
        </p:txBody>
      </p:sp>
    </p:spTree>
    <p:extLst>
      <p:ext uri="{BB962C8B-B14F-4D97-AF65-F5344CB8AC3E}">
        <p14:creationId xmlns:p14="http://schemas.microsoft.com/office/powerpoint/2010/main" val="14599584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section-5">
            <a:extLst>
              <a:ext uri="{FF2B5EF4-FFF2-40B4-BE49-F238E27FC236}">
                <a16:creationId xmlns:a16="http://schemas.microsoft.com/office/drawing/2014/main" id="{62311725-CA9F-4FD9-BFC0-C086ABBE6495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4953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087F8C"/>
                </a:solidFill>
              </a:defRPr>
            </a:pPr>
            <a:r>
              <a:rPr sz="1050" b="1">
                <a:solidFill>
                  <a:srgbClr val="087F8C"/>
                </a:solidFill>
              </a:rPr>
              <a:t>RECOMENDAÇÃO</a:t>
            </a:r>
          </a:p>
        </p:txBody>
      </p:sp>
      <p:sp>
        <p:nvSpPr>
          <p:cNvPr id="2" name="title-5">
            <a:extLst>
              <a:ext uri="{FF2B5EF4-FFF2-40B4-BE49-F238E27FC236}">
                <a16:creationId xmlns:a16="http://schemas.microsoft.com/office/drawing/2014/main" id="{74872FA4-122B-4788-B36A-84CE4A3159F7}"/>
              </a:ext>
            </a:extLst>
          </p:cNvPr>
          <p:cNvSpPr>
            <a:spLocks noGrp="1"/>
          </p:cNvSpPr>
          <p:nvPr/>
        </p:nvSpPr>
        <p:spPr>
          <a:xfrm>
            <a:off x="685800" y="790575"/>
            <a:ext cx="1082040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3150" b="1">
                <a:solidFill>
                  <a:srgbClr val="14213D"/>
                </a:solidFill>
              </a:defRPr>
            </a:pPr>
            <a:r>
              <a:rPr sz="3150" b="1">
                <a:solidFill>
                  <a:srgbClr val="14213D"/>
                </a:solidFill>
              </a:rPr>
              <a:t>Um piloto curto permite agir sem fingir certeza</a:t>
            </a:r>
          </a:p>
        </p:txBody>
      </p:sp>
      <p:sp>
        <p:nvSpPr>
          <p:cNvPr id="3" name="subtitle-5">
            <a:extLst>
              <a:ext uri="{FF2B5EF4-FFF2-40B4-BE49-F238E27FC236}">
                <a16:creationId xmlns:a16="http://schemas.microsoft.com/office/drawing/2014/main" id="{39D99C83-2C41-4EBC-8CC4-2427DC9E01D1}"/>
              </a:ext>
            </a:extLst>
          </p:cNvPr>
          <p:cNvSpPr>
            <a:spLocks noGrp="1"/>
          </p:cNvSpPr>
          <p:nvPr/>
        </p:nvSpPr>
        <p:spPr>
          <a:xfrm>
            <a:off x="685800" y="1619250"/>
            <a:ext cx="103822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0">
                <a:solidFill>
                  <a:srgbClr val="5E6A7D"/>
                </a:solidFill>
              </a:defRPr>
            </a:pPr>
            <a:r>
              <a:rPr sz="1500" b="0">
                <a:solidFill>
                  <a:srgbClr val="5E6A7D"/>
                </a:solidFill>
              </a:rPr>
              <a:t>Duas frentes, três critérios de sucesso e uma revisão ao final de 30 dias.</a:t>
            </a:r>
          </a:p>
        </p:txBody>
      </p:sp>
      <p:sp>
        <p:nvSpPr>
          <p:cNvPr id="4" name="footer-rule-5">
            <a:extLst>
              <a:ext uri="{FF2B5EF4-FFF2-40B4-BE49-F238E27FC236}">
                <a16:creationId xmlns:a16="http://schemas.microsoft.com/office/drawing/2014/main" id="{E708EF96-5D60-422A-AF54-1942958408F3}"/>
              </a:ext>
            </a:extLst>
          </p:cNvPr>
          <p:cNvSpPr>
            <a:spLocks noGrp="1"/>
          </p:cNvSpPr>
          <p:nvPr/>
        </p:nvSpPr>
        <p:spPr>
          <a:xfrm>
            <a:off x="685800" y="6400800"/>
            <a:ext cx="10820400" cy="19050"/>
          </a:xfrm>
          <a:prstGeom prst="rect">
            <a:avLst/>
          </a:prstGeom>
          <a:solidFill>
            <a:srgbClr val="CBD3DC"/>
          </a:solidFill>
          <a:ln w="0">
            <a:solidFill>
              <a:srgbClr val="CBD3D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footer-5">
            <a:extLst>
              <a:ext uri="{FF2B5EF4-FFF2-40B4-BE49-F238E27FC236}">
                <a16:creationId xmlns:a16="http://schemas.microsoft.com/office/drawing/2014/main" id="{DF329B38-D259-48AE-B944-2174D0798E45}"/>
              </a:ext>
            </a:extLst>
          </p:cNvPr>
          <p:cNvSpPr>
            <a:spLocks noGrp="1"/>
          </p:cNvSpPr>
          <p:nvPr/>
        </p:nvSpPr>
        <p:spPr>
          <a:xfrm>
            <a:off x="685800" y="6515100"/>
            <a:ext cx="5429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825" b="1">
                <a:solidFill>
                  <a:srgbClr val="5E6A7D"/>
                </a:solidFill>
              </a:defRPr>
            </a:pPr>
            <a:r>
              <a:rPr sz="825" b="1">
                <a:solidFill>
                  <a:srgbClr val="5E6A7D"/>
                </a:solidFill>
              </a:rPr>
              <a:t>DESAFIO 28 · POST 06 · DADOS SINTÉTICOS</a:t>
            </a:r>
          </a:p>
        </p:txBody>
      </p:sp>
      <p:sp>
        <p:nvSpPr>
          <p:cNvPr id="6" name="page-5">
            <a:extLst>
              <a:ext uri="{FF2B5EF4-FFF2-40B4-BE49-F238E27FC236}">
                <a16:creationId xmlns:a16="http://schemas.microsoft.com/office/drawing/2014/main" id="{11304AFD-26B8-48D5-81CC-2548887D32C5}"/>
              </a:ext>
            </a:extLst>
          </p:cNvPr>
          <p:cNvSpPr>
            <a:spLocks noGrp="1"/>
          </p:cNvSpPr>
          <p:nvPr/>
        </p:nvSpPr>
        <p:spPr>
          <a:xfrm>
            <a:off x="10839450" y="6515100"/>
            <a:ext cx="666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825" b="1">
                <a:solidFill>
                  <a:srgbClr val="5E6A7D"/>
                </a:solidFill>
              </a:defRPr>
            </a:pPr>
            <a:r>
              <a:rPr sz="825" b="1">
                <a:solidFill>
                  <a:srgbClr val="5E6A7D"/>
                </a:solidFill>
              </a:rPr>
              <a:t>05</a:t>
            </a:r>
          </a:p>
        </p:txBody>
      </p:sp>
      <p:sp>
        <p:nvSpPr>
          <p:cNvPr id="7" name="track-a">
            <a:extLst>
              <a:ext uri="{FF2B5EF4-FFF2-40B4-BE49-F238E27FC236}">
                <a16:creationId xmlns:a16="http://schemas.microsoft.com/office/drawing/2014/main" id="{DDADAF25-0B23-4205-9B27-37C0B5D51237}"/>
              </a:ext>
            </a:extLst>
          </p:cNvPr>
          <p:cNvSpPr>
            <a:spLocks noGrp="1"/>
          </p:cNvSpPr>
          <p:nvPr/>
        </p:nvSpPr>
        <p:spPr>
          <a:xfrm>
            <a:off x="685800" y="2476500"/>
            <a:ext cx="5095875" cy="2000250"/>
          </a:xfrm>
          <a:prstGeom prst="roundRect">
            <a:avLst>
              <a:gd name="adj" fmla="val 5714"/>
            </a:avLst>
          </a:prstGeom>
          <a:solidFill>
            <a:srgbClr val="EAF4F5"/>
          </a:solidFill>
          <a:ln w="9525">
            <a:solidFill>
              <a:srgbClr val="087F8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track-a-label">
            <a:extLst>
              <a:ext uri="{FF2B5EF4-FFF2-40B4-BE49-F238E27FC236}">
                <a16:creationId xmlns:a16="http://schemas.microsoft.com/office/drawing/2014/main" id="{1F039299-3B32-4E12-8836-E8C376BB6CFB}"/>
              </a:ext>
            </a:extLst>
          </p:cNvPr>
          <p:cNvSpPr>
            <a:spLocks noGrp="1"/>
          </p:cNvSpPr>
          <p:nvPr/>
        </p:nvSpPr>
        <p:spPr>
          <a:xfrm>
            <a:off x="971550" y="2762250"/>
            <a:ext cx="14287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087F8C"/>
                </a:solidFill>
              </a:defRPr>
            </a:pPr>
            <a:r>
              <a:rPr sz="1125" b="1">
                <a:solidFill>
                  <a:srgbClr val="087F8C"/>
                </a:solidFill>
              </a:rPr>
              <a:t>FRENTE 1</a:t>
            </a:r>
          </a:p>
        </p:txBody>
      </p:sp>
      <p:sp>
        <p:nvSpPr>
          <p:cNvPr id="9" name="track-a-title">
            <a:extLst>
              <a:ext uri="{FF2B5EF4-FFF2-40B4-BE49-F238E27FC236}">
                <a16:creationId xmlns:a16="http://schemas.microsoft.com/office/drawing/2014/main" id="{6E4C35E6-09E0-4C0D-AF68-EC7B302620A8}"/>
              </a:ext>
            </a:extLst>
          </p:cNvPr>
          <p:cNvSpPr>
            <a:spLocks noGrp="1"/>
          </p:cNvSpPr>
          <p:nvPr/>
        </p:nvSpPr>
        <p:spPr>
          <a:xfrm>
            <a:off x="971550" y="3143250"/>
            <a:ext cx="4238625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75" b="1">
                <a:solidFill>
                  <a:srgbClr val="14213D"/>
                </a:solidFill>
              </a:defRPr>
            </a:pPr>
            <a:r>
              <a:rPr sz="1875" b="1">
                <a:solidFill>
                  <a:srgbClr val="14213D"/>
                </a:solidFill>
              </a:rPr>
              <a:t>Cobertura operacional</a:t>
            </a:r>
          </a:p>
        </p:txBody>
      </p:sp>
      <p:sp>
        <p:nvSpPr>
          <p:cNvPr id="10" name="track-a-copy">
            <a:extLst>
              <a:ext uri="{FF2B5EF4-FFF2-40B4-BE49-F238E27FC236}">
                <a16:creationId xmlns:a16="http://schemas.microsoft.com/office/drawing/2014/main" id="{80FCE5B8-234D-4937-9783-93F150E6D1A9}"/>
              </a:ext>
            </a:extLst>
          </p:cNvPr>
          <p:cNvSpPr>
            <a:spLocks noGrp="1"/>
          </p:cNvSpPr>
          <p:nvPr/>
        </p:nvSpPr>
        <p:spPr>
          <a:xfrm>
            <a:off x="971550" y="3695700"/>
            <a:ext cx="428625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0">
                <a:solidFill>
                  <a:srgbClr val="14213D"/>
                </a:solidFill>
              </a:defRPr>
            </a:pPr>
            <a:r>
              <a:rPr sz="1425" b="0">
                <a:solidFill>
                  <a:srgbClr val="14213D"/>
                </a:solidFill>
              </a:rPr>
              <a:t>Reforçar segunda-feira, das 9h às 11h, e revisar capacidade e regras do turno da noite.</a:t>
            </a:r>
          </a:p>
        </p:txBody>
      </p:sp>
      <p:sp>
        <p:nvSpPr>
          <p:cNvPr id="11" name="track-b">
            <a:extLst>
              <a:ext uri="{FF2B5EF4-FFF2-40B4-BE49-F238E27FC236}">
                <a16:creationId xmlns:a16="http://schemas.microsoft.com/office/drawing/2014/main" id="{48CEA739-55A7-4835-85C9-EB718805B5DC}"/>
              </a:ext>
            </a:extLst>
          </p:cNvPr>
          <p:cNvSpPr>
            <a:spLocks noGrp="1"/>
          </p:cNvSpPr>
          <p:nvPr/>
        </p:nvSpPr>
        <p:spPr>
          <a:xfrm>
            <a:off x="6410325" y="2476500"/>
            <a:ext cx="5095875" cy="2000250"/>
          </a:xfrm>
          <a:prstGeom prst="roundRect">
            <a:avLst>
              <a:gd name="adj" fmla="val 5714"/>
            </a:avLst>
          </a:prstGeom>
          <a:solidFill>
            <a:srgbClr val="FFF7E8"/>
          </a:solidFill>
          <a:ln w="9525">
            <a:solidFill>
              <a:srgbClr val="F3A71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2" name="track-b-label">
            <a:extLst>
              <a:ext uri="{FF2B5EF4-FFF2-40B4-BE49-F238E27FC236}">
                <a16:creationId xmlns:a16="http://schemas.microsoft.com/office/drawing/2014/main" id="{1627C621-F96F-4460-902E-08CEDE144897}"/>
              </a:ext>
            </a:extLst>
          </p:cNvPr>
          <p:cNvSpPr>
            <a:spLocks noGrp="1"/>
          </p:cNvSpPr>
          <p:nvPr/>
        </p:nvSpPr>
        <p:spPr>
          <a:xfrm>
            <a:off x="6696075" y="2762250"/>
            <a:ext cx="14287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A76500"/>
                </a:solidFill>
              </a:defRPr>
            </a:pPr>
            <a:r>
              <a:rPr sz="1125" b="1">
                <a:solidFill>
                  <a:srgbClr val="A76500"/>
                </a:solidFill>
              </a:rPr>
              <a:t>FRENTE 2</a:t>
            </a:r>
          </a:p>
        </p:txBody>
      </p:sp>
      <p:sp>
        <p:nvSpPr>
          <p:cNvPr id="13" name="track-b-title">
            <a:extLst>
              <a:ext uri="{FF2B5EF4-FFF2-40B4-BE49-F238E27FC236}">
                <a16:creationId xmlns:a16="http://schemas.microsoft.com/office/drawing/2014/main" id="{D5D8777D-9A2E-4C4E-A042-5D992A26F517}"/>
              </a:ext>
            </a:extLst>
          </p:cNvPr>
          <p:cNvSpPr>
            <a:spLocks noGrp="1"/>
          </p:cNvSpPr>
          <p:nvPr/>
        </p:nvSpPr>
        <p:spPr>
          <a:xfrm>
            <a:off x="6696075" y="3143250"/>
            <a:ext cx="4238625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75" b="1">
                <a:solidFill>
                  <a:srgbClr val="14213D"/>
                </a:solidFill>
              </a:defRPr>
            </a:pPr>
            <a:r>
              <a:rPr sz="1875" b="1">
                <a:solidFill>
                  <a:srgbClr val="14213D"/>
                </a:solidFill>
              </a:rPr>
              <a:t>Reincidência em cobrança</a:t>
            </a:r>
          </a:p>
        </p:txBody>
      </p:sp>
      <p:sp>
        <p:nvSpPr>
          <p:cNvPr id="14" name="track-b-copy">
            <a:extLst>
              <a:ext uri="{FF2B5EF4-FFF2-40B4-BE49-F238E27FC236}">
                <a16:creationId xmlns:a16="http://schemas.microsoft.com/office/drawing/2014/main" id="{615B4152-01D2-42A6-BD4B-060577CCBFCB}"/>
              </a:ext>
            </a:extLst>
          </p:cNvPr>
          <p:cNvSpPr>
            <a:spLocks noGrp="1"/>
          </p:cNvSpPr>
          <p:nvPr/>
        </p:nvSpPr>
        <p:spPr>
          <a:xfrm>
            <a:off x="6696075" y="3695700"/>
            <a:ext cx="428625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0">
                <a:solidFill>
                  <a:srgbClr val="14213D"/>
                </a:solidFill>
              </a:defRPr>
            </a:pPr>
            <a:r>
              <a:rPr sz="1425" b="0">
                <a:solidFill>
                  <a:srgbClr val="14213D"/>
                </a:solidFill>
              </a:rPr>
              <a:t>Revisar cobrança duplicada e acompanhar reabertura, satisfação e motivo-raiz.</a:t>
            </a:r>
          </a:p>
        </p:txBody>
      </p:sp>
      <p:sp>
        <p:nvSpPr>
          <p:cNvPr id="15" name="success-label">
            <a:extLst>
              <a:ext uri="{FF2B5EF4-FFF2-40B4-BE49-F238E27FC236}">
                <a16:creationId xmlns:a16="http://schemas.microsoft.com/office/drawing/2014/main" id="{B2BB3BC1-8D1C-4817-B195-247C52014299}"/>
              </a:ext>
            </a:extLst>
          </p:cNvPr>
          <p:cNvSpPr>
            <a:spLocks noGrp="1"/>
          </p:cNvSpPr>
          <p:nvPr/>
        </p:nvSpPr>
        <p:spPr>
          <a:xfrm>
            <a:off x="685800" y="4953000"/>
            <a:ext cx="40957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5E6A7D"/>
                </a:solidFill>
              </a:defRPr>
            </a:pPr>
            <a:r>
              <a:rPr sz="1050" b="1">
                <a:solidFill>
                  <a:srgbClr val="5E6A7D"/>
                </a:solidFill>
              </a:rPr>
              <a:t>O PILOTO SERÁ AVALIADO POR</a:t>
            </a:r>
          </a:p>
        </p:txBody>
      </p:sp>
      <p:sp>
        <p:nvSpPr>
          <p:cNvPr id="16" name="success-copy">
            <a:extLst>
              <a:ext uri="{FF2B5EF4-FFF2-40B4-BE49-F238E27FC236}">
                <a16:creationId xmlns:a16="http://schemas.microsoft.com/office/drawing/2014/main" id="{8E8825DE-532F-4837-9FDA-6ED3CCCCEDD0}"/>
              </a:ext>
            </a:extLst>
          </p:cNvPr>
          <p:cNvSpPr>
            <a:spLocks noGrp="1"/>
          </p:cNvSpPr>
          <p:nvPr/>
        </p:nvSpPr>
        <p:spPr>
          <a:xfrm>
            <a:off x="685800" y="5305425"/>
            <a:ext cx="108204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14213D"/>
                </a:solidFill>
              </a:defRPr>
            </a:pPr>
            <a:r>
              <a:rPr sz="1800" b="1">
                <a:solidFill>
                  <a:srgbClr val="14213D"/>
                </a:solidFill>
              </a:rPr>
              <a:t>queda no SLA vencido · queda na reabertura · satisfação preservada</a:t>
            </a:r>
          </a:p>
        </p:txBody>
      </p:sp>
    </p:spTree>
    <p:extLst>
      <p:ext uri="{BB962C8B-B14F-4D97-AF65-F5344CB8AC3E}">
        <p14:creationId xmlns:p14="http://schemas.microsoft.com/office/powerpoint/2010/main" val="4797395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section-6">
            <a:extLst>
              <a:ext uri="{FF2B5EF4-FFF2-40B4-BE49-F238E27FC236}">
                <a16:creationId xmlns:a16="http://schemas.microsoft.com/office/drawing/2014/main" id="{1996DE3A-13AA-46CB-98EC-276C1E2190AB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4953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087F8C"/>
                </a:solidFill>
              </a:defRPr>
            </a:pPr>
            <a:r>
              <a:rPr sz="1050" b="1">
                <a:solidFill>
                  <a:srgbClr val="087F8C"/>
                </a:solidFill>
              </a:rPr>
              <a:t>PRÓXIMO PASSO</a:t>
            </a:r>
          </a:p>
        </p:txBody>
      </p:sp>
      <p:sp>
        <p:nvSpPr>
          <p:cNvPr id="2" name="title-6">
            <a:extLst>
              <a:ext uri="{FF2B5EF4-FFF2-40B4-BE49-F238E27FC236}">
                <a16:creationId xmlns:a16="http://schemas.microsoft.com/office/drawing/2014/main" id="{FB4E9052-B717-446B-917D-F1E0362C12FF}"/>
              </a:ext>
            </a:extLst>
          </p:cNvPr>
          <p:cNvSpPr>
            <a:spLocks noGrp="1"/>
          </p:cNvSpPr>
          <p:nvPr/>
        </p:nvSpPr>
        <p:spPr>
          <a:xfrm>
            <a:off x="685800" y="790575"/>
            <a:ext cx="1082040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3150" b="1">
                <a:solidFill>
                  <a:srgbClr val="14213D"/>
                </a:solidFill>
              </a:defRPr>
            </a:pPr>
            <a:r>
              <a:rPr sz="3150" b="1">
                <a:solidFill>
                  <a:srgbClr val="14213D"/>
                </a:solidFill>
              </a:rPr>
              <a:t>A decisão de hoje é sobre testar, medir e aprender</a:t>
            </a:r>
          </a:p>
        </p:txBody>
      </p:sp>
      <p:sp>
        <p:nvSpPr>
          <p:cNvPr id="3" name="subtitle-6">
            <a:extLst>
              <a:ext uri="{FF2B5EF4-FFF2-40B4-BE49-F238E27FC236}">
                <a16:creationId xmlns:a16="http://schemas.microsoft.com/office/drawing/2014/main" id="{988172D5-B044-44DC-995B-963A56ADF9BA}"/>
              </a:ext>
            </a:extLst>
          </p:cNvPr>
          <p:cNvSpPr>
            <a:spLocks noGrp="1"/>
          </p:cNvSpPr>
          <p:nvPr/>
        </p:nvSpPr>
        <p:spPr>
          <a:xfrm>
            <a:off x="685800" y="1619250"/>
            <a:ext cx="103822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0">
                <a:solidFill>
                  <a:srgbClr val="5E6A7D"/>
                </a:solidFill>
              </a:defRPr>
            </a:pPr>
            <a:r>
              <a:rPr sz="1500" b="0">
                <a:solidFill>
                  <a:srgbClr val="5E6A7D"/>
                </a:solidFill>
              </a:rPr>
              <a:t>A base sustenta um piloto. Ainda não sustenta uma mudança permanente.</a:t>
            </a:r>
          </a:p>
        </p:txBody>
      </p:sp>
      <p:sp>
        <p:nvSpPr>
          <p:cNvPr id="4" name="footer-rule-6">
            <a:extLst>
              <a:ext uri="{FF2B5EF4-FFF2-40B4-BE49-F238E27FC236}">
                <a16:creationId xmlns:a16="http://schemas.microsoft.com/office/drawing/2014/main" id="{2D1886D4-7D0B-433F-8749-FC6F963DEA14}"/>
              </a:ext>
            </a:extLst>
          </p:cNvPr>
          <p:cNvSpPr>
            <a:spLocks noGrp="1"/>
          </p:cNvSpPr>
          <p:nvPr/>
        </p:nvSpPr>
        <p:spPr>
          <a:xfrm>
            <a:off x="685800" y="6400800"/>
            <a:ext cx="10820400" cy="19050"/>
          </a:xfrm>
          <a:prstGeom prst="rect">
            <a:avLst/>
          </a:prstGeom>
          <a:solidFill>
            <a:srgbClr val="CBD3DC"/>
          </a:solidFill>
          <a:ln w="0">
            <a:solidFill>
              <a:srgbClr val="CBD3D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footer-6">
            <a:extLst>
              <a:ext uri="{FF2B5EF4-FFF2-40B4-BE49-F238E27FC236}">
                <a16:creationId xmlns:a16="http://schemas.microsoft.com/office/drawing/2014/main" id="{822164AD-9482-4E2F-A22F-2CB24327EEF7}"/>
              </a:ext>
            </a:extLst>
          </p:cNvPr>
          <p:cNvSpPr>
            <a:spLocks noGrp="1"/>
          </p:cNvSpPr>
          <p:nvPr/>
        </p:nvSpPr>
        <p:spPr>
          <a:xfrm>
            <a:off x="685800" y="6515100"/>
            <a:ext cx="5429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825" b="1">
                <a:solidFill>
                  <a:srgbClr val="5E6A7D"/>
                </a:solidFill>
              </a:defRPr>
            </a:pPr>
            <a:r>
              <a:rPr sz="825" b="1">
                <a:solidFill>
                  <a:srgbClr val="5E6A7D"/>
                </a:solidFill>
              </a:rPr>
              <a:t>DESAFIO 28 · POST 06 · DADOS SINTÉTICOS</a:t>
            </a:r>
          </a:p>
        </p:txBody>
      </p:sp>
      <p:sp>
        <p:nvSpPr>
          <p:cNvPr id="6" name="page-6">
            <a:extLst>
              <a:ext uri="{FF2B5EF4-FFF2-40B4-BE49-F238E27FC236}">
                <a16:creationId xmlns:a16="http://schemas.microsoft.com/office/drawing/2014/main" id="{1E5808E6-F631-4751-88F8-425E7C8C2D89}"/>
              </a:ext>
            </a:extLst>
          </p:cNvPr>
          <p:cNvSpPr>
            <a:spLocks noGrp="1"/>
          </p:cNvSpPr>
          <p:nvPr/>
        </p:nvSpPr>
        <p:spPr>
          <a:xfrm>
            <a:off x="10839450" y="6515100"/>
            <a:ext cx="666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825" b="1">
                <a:solidFill>
                  <a:srgbClr val="5E6A7D"/>
                </a:solidFill>
              </a:defRPr>
            </a:pPr>
            <a:r>
              <a:rPr sz="825" b="1">
                <a:solidFill>
                  <a:srgbClr val="5E6A7D"/>
                </a:solidFill>
              </a:rPr>
              <a:t>06</a:t>
            </a:r>
          </a:p>
        </p:txBody>
      </p:sp>
      <p:sp>
        <p:nvSpPr>
          <p:cNvPr id="7" name="approve">
            <a:extLst>
              <a:ext uri="{FF2B5EF4-FFF2-40B4-BE49-F238E27FC236}">
                <a16:creationId xmlns:a16="http://schemas.microsoft.com/office/drawing/2014/main" id="{77777E3A-40E4-48D9-9608-9D977CFD9893}"/>
              </a:ext>
            </a:extLst>
          </p:cNvPr>
          <p:cNvSpPr>
            <a:spLocks noGrp="1"/>
          </p:cNvSpPr>
          <p:nvPr/>
        </p:nvSpPr>
        <p:spPr>
          <a:xfrm>
            <a:off x="685800" y="2533650"/>
            <a:ext cx="3333750" cy="2047875"/>
          </a:xfrm>
          <a:prstGeom prst="roundRect">
            <a:avLst>
              <a:gd name="adj" fmla="val 5581"/>
            </a:avLst>
          </a:prstGeom>
          <a:solidFill>
            <a:srgbClr val="EAF7F1"/>
          </a:solidFill>
          <a:ln w="9525">
            <a:solidFill>
              <a:srgbClr val="2A9D6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approve-label">
            <a:extLst>
              <a:ext uri="{FF2B5EF4-FFF2-40B4-BE49-F238E27FC236}">
                <a16:creationId xmlns:a16="http://schemas.microsoft.com/office/drawing/2014/main" id="{AAC96980-8C83-465A-8BF8-F0CC1C94EA13}"/>
              </a:ext>
            </a:extLst>
          </p:cNvPr>
          <p:cNvSpPr>
            <a:spLocks noGrp="1"/>
          </p:cNvSpPr>
          <p:nvPr/>
        </p:nvSpPr>
        <p:spPr>
          <a:xfrm>
            <a:off x="971550" y="2876550"/>
            <a:ext cx="2762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2A9D6F"/>
                </a:solidFill>
              </a:defRPr>
            </a:pPr>
            <a:r>
              <a:rPr sz="1800" b="1">
                <a:solidFill>
                  <a:srgbClr val="2A9D6F"/>
                </a:solidFill>
              </a:rPr>
              <a:t>APROVAR</a:t>
            </a:r>
          </a:p>
        </p:txBody>
      </p:sp>
      <p:sp>
        <p:nvSpPr>
          <p:cNvPr id="9" name="approve-copy">
            <a:extLst>
              <a:ext uri="{FF2B5EF4-FFF2-40B4-BE49-F238E27FC236}">
                <a16:creationId xmlns:a16="http://schemas.microsoft.com/office/drawing/2014/main" id="{97667D1F-AC2C-49E1-BEEC-098F4ACACD37}"/>
              </a:ext>
            </a:extLst>
          </p:cNvPr>
          <p:cNvSpPr>
            <a:spLocks noGrp="1"/>
          </p:cNvSpPr>
          <p:nvPr/>
        </p:nvSpPr>
        <p:spPr>
          <a:xfrm>
            <a:off x="971550" y="3429000"/>
            <a:ext cx="257175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0">
                <a:solidFill>
                  <a:srgbClr val="14213D"/>
                </a:solidFill>
              </a:defRPr>
            </a:pPr>
            <a:r>
              <a:rPr sz="1425" b="0">
                <a:solidFill>
                  <a:srgbClr val="14213D"/>
                </a:solidFill>
              </a:rPr>
              <a:t>Iniciar o piloto com escopo e métricas definidos.</a:t>
            </a:r>
          </a:p>
        </p:txBody>
      </p:sp>
      <p:sp>
        <p:nvSpPr>
          <p:cNvPr id="10" name="adjust">
            <a:extLst>
              <a:ext uri="{FF2B5EF4-FFF2-40B4-BE49-F238E27FC236}">
                <a16:creationId xmlns:a16="http://schemas.microsoft.com/office/drawing/2014/main" id="{F2AA4F63-5B80-4995-9EC5-383B6702AB62}"/>
              </a:ext>
            </a:extLst>
          </p:cNvPr>
          <p:cNvSpPr>
            <a:spLocks noGrp="1"/>
          </p:cNvSpPr>
          <p:nvPr/>
        </p:nvSpPr>
        <p:spPr>
          <a:xfrm>
            <a:off x="4429125" y="2533650"/>
            <a:ext cx="3333750" cy="2047875"/>
          </a:xfrm>
          <a:prstGeom prst="roundRect">
            <a:avLst>
              <a:gd name="adj" fmla="val 5581"/>
            </a:avLst>
          </a:prstGeom>
          <a:solidFill>
            <a:srgbClr val="FFF7E8"/>
          </a:solidFill>
          <a:ln w="9525">
            <a:solidFill>
              <a:srgbClr val="F3A71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adjust-label">
            <a:extLst>
              <a:ext uri="{FF2B5EF4-FFF2-40B4-BE49-F238E27FC236}">
                <a16:creationId xmlns:a16="http://schemas.microsoft.com/office/drawing/2014/main" id="{9BD00613-04E1-4016-B946-B3ECFC91A80B}"/>
              </a:ext>
            </a:extLst>
          </p:cNvPr>
          <p:cNvSpPr>
            <a:spLocks noGrp="1"/>
          </p:cNvSpPr>
          <p:nvPr/>
        </p:nvSpPr>
        <p:spPr>
          <a:xfrm>
            <a:off x="4714875" y="2876550"/>
            <a:ext cx="2762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A76500"/>
                </a:solidFill>
              </a:defRPr>
            </a:pPr>
            <a:r>
              <a:rPr sz="1800" b="1">
                <a:solidFill>
                  <a:srgbClr val="A76500"/>
                </a:solidFill>
              </a:rPr>
              <a:t>AJUSTAR</a:t>
            </a:r>
          </a:p>
        </p:txBody>
      </p:sp>
      <p:sp>
        <p:nvSpPr>
          <p:cNvPr id="12" name="adjust-copy">
            <a:extLst>
              <a:ext uri="{FF2B5EF4-FFF2-40B4-BE49-F238E27FC236}">
                <a16:creationId xmlns:a16="http://schemas.microsoft.com/office/drawing/2014/main" id="{6A010A24-1EEB-43AD-89FF-BE6004489F22}"/>
              </a:ext>
            </a:extLst>
          </p:cNvPr>
          <p:cNvSpPr>
            <a:spLocks noGrp="1"/>
          </p:cNvSpPr>
          <p:nvPr/>
        </p:nvSpPr>
        <p:spPr>
          <a:xfrm>
            <a:off x="4714875" y="3429000"/>
            <a:ext cx="257175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0">
                <a:solidFill>
                  <a:srgbClr val="14213D"/>
                </a:solidFill>
              </a:defRPr>
            </a:pPr>
            <a:r>
              <a:rPr sz="1425" b="0">
                <a:solidFill>
                  <a:srgbClr val="14213D"/>
                </a:solidFill>
              </a:rPr>
              <a:t>Alterar frentes, critérios ou prazo antes de começar.</a:t>
            </a:r>
          </a:p>
        </p:txBody>
      </p:sp>
      <p:sp>
        <p:nvSpPr>
          <p:cNvPr id="13" name="reject">
            <a:extLst>
              <a:ext uri="{FF2B5EF4-FFF2-40B4-BE49-F238E27FC236}">
                <a16:creationId xmlns:a16="http://schemas.microsoft.com/office/drawing/2014/main" id="{1BEDBAEF-5043-4FDE-98D3-FFC6166DE42B}"/>
              </a:ext>
            </a:extLst>
          </p:cNvPr>
          <p:cNvSpPr>
            <a:spLocks noGrp="1"/>
          </p:cNvSpPr>
          <p:nvPr/>
        </p:nvSpPr>
        <p:spPr>
          <a:xfrm>
            <a:off x="8172450" y="2533650"/>
            <a:ext cx="3333750" cy="2047875"/>
          </a:xfrm>
          <a:prstGeom prst="roundRect">
            <a:avLst>
              <a:gd name="adj" fmla="val 5581"/>
            </a:avLst>
          </a:prstGeom>
          <a:solidFill>
            <a:srgbClr val="FFF1F3"/>
          </a:solidFill>
          <a:ln w="9525">
            <a:solidFill>
              <a:srgbClr val="D1495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reject-label">
            <a:extLst>
              <a:ext uri="{FF2B5EF4-FFF2-40B4-BE49-F238E27FC236}">
                <a16:creationId xmlns:a16="http://schemas.microsoft.com/office/drawing/2014/main" id="{99771378-126C-4053-ACBA-92D955D08102}"/>
              </a:ext>
            </a:extLst>
          </p:cNvPr>
          <p:cNvSpPr>
            <a:spLocks noGrp="1"/>
          </p:cNvSpPr>
          <p:nvPr/>
        </p:nvSpPr>
        <p:spPr>
          <a:xfrm>
            <a:off x="8458200" y="2876550"/>
            <a:ext cx="2762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D1495B"/>
                </a:solidFill>
              </a:defRPr>
            </a:pPr>
            <a:r>
              <a:rPr sz="1800" b="1">
                <a:solidFill>
                  <a:srgbClr val="D1495B"/>
                </a:solidFill>
              </a:rPr>
              <a:t>REJEITAR</a:t>
            </a:r>
          </a:p>
        </p:txBody>
      </p:sp>
      <p:sp>
        <p:nvSpPr>
          <p:cNvPr id="15" name="reject-copy">
            <a:extLst>
              <a:ext uri="{FF2B5EF4-FFF2-40B4-BE49-F238E27FC236}">
                <a16:creationId xmlns:a16="http://schemas.microsoft.com/office/drawing/2014/main" id="{25B0CFA4-F00E-46E5-A402-71FB7D25F2B5}"/>
              </a:ext>
            </a:extLst>
          </p:cNvPr>
          <p:cNvSpPr>
            <a:spLocks noGrp="1"/>
          </p:cNvSpPr>
          <p:nvPr/>
        </p:nvSpPr>
        <p:spPr>
          <a:xfrm>
            <a:off x="8458200" y="3429000"/>
            <a:ext cx="257175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0">
                <a:solidFill>
                  <a:srgbClr val="14213D"/>
                </a:solidFill>
              </a:defRPr>
            </a:pPr>
            <a:r>
              <a:rPr sz="1425" b="0">
                <a:solidFill>
                  <a:srgbClr val="14213D"/>
                </a:solidFill>
              </a:rPr>
              <a:t>Registrar o motivo e definir qual evidência falta.</a:t>
            </a:r>
          </a:p>
        </p:txBody>
      </p:sp>
      <p:sp>
        <p:nvSpPr>
          <p:cNvPr id="16" name="closing">
            <a:extLst>
              <a:ext uri="{FF2B5EF4-FFF2-40B4-BE49-F238E27FC236}">
                <a16:creationId xmlns:a16="http://schemas.microsoft.com/office/drawing/2014/main" id="{983D541D-D57D-469B-AF9A-96B1935929C8}"/>
              </a:ext>
            </a:extLst>
          </p:cNvPr>
          <p:cNvSpPr>
            <a:spLocks noGrp="1"/>
          </p:cNvSpPr>
          <p:nvPr/>
        </p:nvSpPr>
        <p:spPr>
          <a:xfrm>
            <a:off x="685800" y="5219700"/>
            <a:ext cx="108204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950" b="1">
                <a:solidFill>
                  <a:srgbClr val="14213D"/>
                </a:solidFill>
              </a:defRPr>
            </a:pPr>
            <a:r>
              <a:rPr sz="1950" b="1">
                <a:solidFill>
                  <a:srgbClr val="14213D"/>
                </a:solidFill>
              </a:rPr>
              <a:t>Sem decisão explícita, a apresentação vira apenas uma forma bonita de adiar a conversa.</a:t>
            </a:r>
          </a:p>
        </p:txBody>
      </p:sp>
    </p:spTree>
    <p:extLst>
      <p:ext uri="{BB962C8B-B14F-4D97-AF65-F5344CB8AC3E}">
        <p14:creationId xmlns:p14="http://schemas.microsoft.com/office/powerpoint/2010/main" val="1412760638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498</Words>
  <Application>Microsoft Office PowerPoint</Application>
  <DocSecurity>0</DocSecurity>
  <PresentationFormat>Widescreen</PresentationFormat>
  <Paragraphs>79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8" baseType="lpstr">
      <vt:lpstr>Calibri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Daniel Damasceno</cp:lastModifiedBy>
  <cp:revision>1</cp:revision>
  <dcterms:created xsi:type="dcterms:W3CDTF">2026-08-13T10:15:10Z</dcterms:created>
  <dcterms:modified xsi:type="dcterms:W3CDTF">2026-08-18T10:08:08Z</dcterms:modified>
</cp:coreProperties>
</file>